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Override PartName="/ppt/media/image12.png" ContentType="image/png"/>
  <Override PartName="/ppt/media/image13.png" ContentType="image/png"/>
  <Override PartName="/ppt/media/image14.png" ContentType="image/png"/>
  <Override PartName="/ppt/media/image15.jpeg" ContentType="image/jpeg"/>
  <Override PartName="/ppt/media/image39.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jpeg" ContentType="image/jpeg"/>
  <Override PartName="/ppt/media/image27.png" ContentType="image/png"/>
  <Override PartName="/ppt/media/image28.png" ContentType="image/png"/>
  <Override PartName="/ppt/media/image29.png" ContentType="image/png"/>
  <Override PartName="/ppt/media/image30.png" ContentType="image/png"/>
  <Override PartName="/ppt/media/image31.png" ContentType="image/png"/>
  <Override PartName="/ppt/media/image32.png" ContentType="image/png"/>
  <Override PartName="/ppt/media/image33.png" ContentType="image/png"/>
  <Override PartName="/ppt/media/image34.png" ContentType="image/png"/>
  <Override PartName="/ppt/media/image35.png" ContentType="image/png"/>
  <Override PartName="/ppt/media/image37.jpeg" ContentType="image/jpeg"/>
  <Override PartName="/ppt/media/image36.png" ContentType="image/png"/>
  <Override PartName="/ppt/media/image38.png" ContentType="image/png"/>
  <Override PartName="/ppt/media/image40.png" ContentType="image/png"/>
  <Override PartName="/ppt/media/image41.png" ContentType="image/png"/>
  <Override PartName="/ppt/media/image42.png" ContentType="image/png"/>
  <Override PartName="/ppt/media/image43.png" ContentType="image/png"/>
  <Override PartName="/ppt/media/image44.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bg-BG" sz="4400" strike="noStrike" u="none">
                <a:solidFill>
                  <a:schemeClr val="dk1"/>
                </a:solidFill>
                <a:effectLst/>
                <a:uFillTx/>
                <a:latin typeface="Calibri Light"/>
              </a:rPr>
              <a:t>Щракнете, за да преместите кадъра</a:t>
            </a:r>
            <a:endParaRPr b="0" lang="bg-BG" sz="4400" strike="noStrike" u="none">
              <a:solidFill>
                <a:schemeClr val="dk1"/>
              </a:solidFill>
              <a:effectLst/>
              <a:uFillTx/>
              <a:latin typeface="Calibri Light"/>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bg-BG" sz="2000" strike="noStrike" u="none">
                <a:solidFill>
                  <a:srgbClr val="000000"/>
                </a:solidFill>
                <a:effectLst/>
                <a:uFillTx/>
                <a:latin typeface="Arial"/>
              </a:rPr>
              <a:t>Щракнете, за да редактирате формата на бележките</a:t>
            </a:r>
            <a:endParaRPr b="0" lang="bg-BG"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bg-BG" sz="1400" strike="noStrike" u="none">
                <a:solidFill>
                  <a:srgbClr val="000000"/>
                </a:solidFill>
                <a:effectLst/>
                <a:uFillTx/>
                <a:latin typeface="Times New Roman"/>
              </a:rPr>
              <a:t>&lt;горен колонтитул&gt;</a:t>
            </a:r>
            <a:endParaRPr b="0" lang="bg-BG"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bg-BG" sz="1400" strike="noStrike" u="none">
                <a:solidFill>
                  <a:srgbClr val="000000"/>
                </a:solidFill>
                <a:effectLst/>
                <a:uFillTx/>
                <a:latin typeface="Times New Roman"/>
              </a:defRPr>
            </a:lvl1pPr>
          </a:lstStyle>
          <a:p>
            <a:pPr indent="0" algn="r">
              <a:buNone/>
            </a:pPr>
            <a:r>
              <a:rPr b="0" lang="bg-BG" sz="1400" strike="noStrike" u="none">
                <a:solidFill>
                  <a:srgbClr val="000000"/>
                </a:solidFill>
                <a:effectLst/>
                <a:uFillTx/>
                <a:latin typeface="Times New Roman"/>
              </a:rPr>
              <a:t>&lt;дата/час&gt;</a:t>
            </a:r>
            <a:endParaRPr b="0" lang="bg-BG"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bg-BG" sz="1400" strike="noStrike" u="none">
                <a:solidFill>
                  <a:srgbClr val="000000"/>
                </a:solidFill>
                <a:effectLst/>
                <a:uFillTx/>
                <a:latin typeface="Times New Roman"/>
              </a:defRPr>
            </a:lvl1pPr>
          </a:lstStyle>
          <a:p>
            <a:pPr indent="0">
              <a:buNone/>
            </a:pPr>
            <a:r>
              <a:rPr b="0" lang="bg-BG" sz="1400" strike="noStrike" u="none">
                <a:solidFill>
                  <a:srgbClr val="000000"/>
                </a:solidFill>
                <a:effectLst/>
                <a:uFillTx/>
                <a:latin typeface="Times New Roman"/>
              </a:rPr>
              <a:t>&lt;долен колонтитул&gt;</a:t>
            </a:r>
            <a:endParaRPr b="0" lang="bg-BG"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bg-BG" sz="1400" strike="noStrike" u="none">
                <a:solidFill>
                  <a:srgbClr val="000000"/>
                </a:solidFill>
                <a:effectLst/>
                <a:uFillTx/>
                <a:latin typeface="Times New Roman"/>
              </a:defRPr>
            </a:lvl1pPr>
          </a:lstStyle>
          <a:p>
            <a:pPr indent="0" algn="r">
              <a:buNone/>
            </a:pPr>
            <a:fld id="{E0FA126B-87B2-47F1-AFA1-7AE809E40FB4}" type="slidenum">
              <a:rPr b="0" lang="bg-BG" sz="1400" strike="noStrike" u="none">
                <a:solidFill>
                  <a:srgbClr val="000000"/>
                </a:solidFill>
                <a:effectLst/>
                <a:uFillTx/>
                <a:latin typeface="Times New Roman"/>
              </a:rPr>
              <a:t>&lt;число&gt;</a:t>
            </a:fld>
            <a:endParaRPr b="0" lang="bg-BG"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6040" cy="3085920"/>
          </a:xfrm>
          <a:prstGeom prst="rect">
            <a:avLst/>
          </a:prstGeom>
          <a:ln w="0">
            <a:noFill/>
          </a:ln>
        </p:spPr>
      </p:sp>
      <p:sp>
        <p:nvSpPr>
          <p:cNvPr id="36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68"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616C2987-3235-4A8C-A9FA-A6A53408784A}"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685800" y="1143000"/>
            <a:ext cx="5486040" cy="3085920"/>
          </a:xfrm>
          <a:prstGeom prst="rect">
            <a:avLst/>
          </a:prstGeom>
          <a:ln w="0">
            <a:noFill/>
          </a:ln>
        </p:spPr>
      </p:sp>
      <p:sp>
        <p:nvSpPr>
          <p:cNvPr id="37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71"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2878EEA-AF7E-451F-B2C4-B1F8257317B5}"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6040" cy="3085920"/>
          </a:xfrm>
          <a:prstGeom prst="rect">
            <a:avLst/>
          </a:prstGeom>
          <a:ln w="0">
            <a:noFill/>
          </a:ln>
        </p:spPr>
      </p:sp>
      <p:sp>
        <p:nvSpPr>
          <p:cNvPr id="3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74"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0167976D-5A0F-4A98-8634-993E4B63E654}"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6040" cy="3085920"/>
          </a:xfrm>
          <a:prstGeom prst="rect">
            <a:avLst/>
          </a:prstGeom>
          <a:ln w="0">
            <a:noFill/>
          </a:ln>
        </p:spPr>
      </p:sp>
      <p:sp>
        <p:nvSpPr>
          <p:cNvPr id="3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77"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B4CA6DA4-07B4-49B0-81E8-EBDE63144EE6}"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685800" y="1143000"/>
            <a:ext cx="5486040" cy="3085920"/>
          </a:xfrm>
          <a:prstGeom prst="rect">
            <a:avLst/>
          </a:prstGeom>
          <a:ln w="0">
            <a:noFill/>
          </a:ln>
        </p:spPr>
      </p:sp>
      <p:sp>
        <p:nvSpPr>
          <p:cNvPr id="3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80"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ECDBF158-822D-46CC-A374-CAF5AF66D76D}"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685800" y="1143000"/>
            <a:ext cx="5486040" cy="3085920"/>
          </a:xfrm>
          <a:prstGeom prst="rect">
            <a:avLst/>
          </a:prstGeom>
          <a:ln w="0">
            <a:noFill/>
          </a:ln>
        </p:spPr>
      </p:sp>
      <p:sp>
        <p:nvSpPr>
          <p:cNvPr id="3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83"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245C31F-C202-4986-A973-00D3DE5F7100}"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685800" y="1143000"/>
            <a:ext cx="5486040" cy="3085920"/>
          </a:xfrm>
          <a:prstGeom prst="rect">
            <a:avLst/>
          </a:prstGeom>
          <a:ln w="0">
            <a:noFill/>
          </a:ln>
        </p:spPr>
      </p:sp>
      <p:sp>
        <p:nvSpPr>
          <p:cNvPr id="3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86"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7EB526AF-25D1-46DA-90B7-545A9DA3A4F0}"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685800" y="1143000"/>
            <a:ext cx="5486040" cy="3085920"/>
          </a:xfrm>
          <a:prstGeom prst="rect">
            <a:avLst/>
          </a:prstGeom>
          <a:ln w="0">
            <a:noFill/>
          </a:ln>
        </p:spPr>
      </p:sp>
      <p:sp>
        <p:nvSpPr>
          <p:cNvPr id="3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89"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A8A1C9D6-51CB-47C2-A809-BE18D8930C83}"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685800" y="1143000"/>
            <a:ext cx="5486040" cy="3085920"/>
          </a:xfrm>
          <a:prstGeom prst="rect">
            <a:avLst/>
          </a:prstGeom>
          <a:ln w="0">
            <a:noFill/>
          </a:ln>
        </p:spPr>
      </p:sp>
      <p:sp>
        <p:nvSpPr>
          <p:cNvPr id="3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92"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A9DAF8E8-03FB-4BB7-A8B6-D972BD49355D}"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685800" y="1143000"/>
            <a:ext cx="5486040" cy="3085920"/>
          </a:xfrm>
          <a:prstGeom prst="rect">
            <a:avLst/>
          </a:prstGeom>
          <a:ln w="0">
            <a:noFill/>
          </a:ln>
        </p:spPr>
      </p:sp>
      <p:sp>
        <p:nvSpPr>
          <p:cNvPr id="3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95"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5935183-BAC4-4421-949E-A68CD80CB806}"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685800" y="1143000"/>
            <a:ext cx="5486040" cy="3085920"/>
          </a:xfrm>
          <a:prstGeom prst="rect">
            <a:avLst/>
          </a:prstGeom>
          <a:ln w="0">
            <a:noFill/>
          </a:ln>
        </p:spPr>
      </p:sp>
      <p:sp>
        <p:nvSpPr>
          <p:cNvPr id="3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398"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58AC15F0-C269-4B84-8EB1-5042D53484CD}"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685800" y="1143000"/>
            <a:ext cx="5486040" cy="3085920"/>
          </a:xfrm>
          <a:prstGeom prst="rect">
            <a:avLst/>
          </a:prstGeom>
          <a:ln w="0">
            <a:noFill/>
          </a:ln>
        </p:spPr>
      </p:sp>
      <p:sp>
        <p:nvSpPr>
          <p:cNvPr id="4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401"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614E878-9EF9-4990-A6E8-6555911CBE9A}"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685800" y="1143000"/>
            <a:ext cx="5486040" cy="3085920"/>
          </a:xfrm>
          <a:prstGeom prst="rect">
            <a:avLst/>
          </a:prstGeom>
          <a:ln w="0">
            <a:noFill/>
          </a:ln>
        </p:spPr>
      </p:sp>
      <p:sp>
        <p:nvSpPr>
          <p:cNvPr id="4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404"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651997A9-8482-4B7A-A8CA-34272C461FD0}"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685800" y="1143000"/>
            <a:ext cx="5486040" cy="3085920"/>
          </a:xfrm>
          <a:prstGeom prst="rect">
            <a:avLst/>
          </a:prstGeom>
          <a:ln w="0">
            <a:noFill/>
          </a:ln>
        </p:spPr>
      </p:sp>
      <p:sp>
        <p:nvSpPr>
          <p:cNvPr id="4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407"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5CD35AE9-6090-445F-A607-BC5482D58DAD}"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685800" y="1143000"/>
            <a:ext cx="5486040" cy="3085920"/>
          </a:xfrm>
          <a:prstGeom prst="rect">
            <a:avLst/>
          </a:prstGeom>
          <a:ln w="0">
            <a:noFill/>
          </a:ln>
        </p:spPr>
      </p:sp>
      <p:sp>
        <p:nvSpPr>
          <p:cNvPr id="4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410"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D024BC24-00F3-419A-BD6C-3A42B7F5F7E2}"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685800" y="1143000"/>
            <a:ext cx="5486040" cy="3085920"/>
          </a:xfrm>
          <a:prstGeom prst="rect">
            <a:avLst/>
          </a:prstGeom>
          <a:ln w="0">
            <a:noFill/>
          </a:ln>
        </p:spPr>
      </p:sp>
      <p:sp>
        <p:nvSpPr>
          <p:cNvPr id="4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413"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883FABD1-CA9D-4E16-B634-3BCEA88F19DB}"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685800" y="1143000"/>
            <a:ext cx="5486040" cy="3085920"/>
          </a:xfrm>
          <a:prstGeom prst="rect">
            <a:avLst/>
          </a:prstGeom>
          <a:ln w="0">
            <a:noFill/>
          </a:ln>
        </p:spPr>
      </p:sp>
      <p:sp>
        <p:nvSpPr>
          <p:cNvPr id="4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416"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6CCD587D-0152-44B1-9EB5-83A0B71D9AB8}"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685800" y="1143000"/>
            <a:ext cx="5486040" cy="3085920"/>
          </a:xfrm>
          <a:prstGeom prst="rect">
            <a:avLst/>
          </a:prstGeom>
          <a:ln w="0">
            <a:noFill/>
          </a:ln>
        </p:spPr>
      </p:sp>
      <p:sp>
        <p:nvSpPr>
          <p:cNvPr id="4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419"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843DDB51-D5CC-4A3B-8F0A-5C3AD02C7A9D}"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685800" y="1143000"/>
            <a:ext cx="5486040" cy="3085920"/>
          </a:xfrm>
          <a:prstGeom prst="rect">
            <a:avLst/>
          </a:prstGeom>
          <a:ln w="0">
            <a:noFill/>
          </a:ln>
        </p:spPr>
      </p:sp>
      <p:sp>
        <p:nvSpPr>
          <p:cNvPr id="4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422"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19315722-0936-4E42-A526-9DB935C9405A}"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685800" y="1143000"/>
            <a:ext cx="5486040" cy="3085920"/>
          </a:xfrm>
          <a:prstGeom prst="rect">
            <a:avLst/>
          </a:prstGeom>
          <a:ln w="0">
            <a:noFill/>
          </a:ln>
        </p:spPr>
      </p:sp>
      <p:sp>
        <p:nvSpPr>
          <p:cNvPr id="4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425"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C4A6CF6B-5029-4CDA-9AEE-1DD9F9B37744}"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685800" y="1143000"/>
            <a:ext cx="5486040" cy="3085920"/>
          </a:xfrm>
          <a:prstGeom prst="rect">
            <a:avLst/>
          </a:prstGeom>
          <a:ln w="0">
            <a:noFill/>
          </a:ln>
        </p:spPr>
      </p:sp>
      <p:sp>
        <p:nvSpPr>
          <p:cNvPr id="4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bg-BG" sz="1800" strike="noStrike" u="none">
              <a:solidFill>
                <a:srgbClr val="000000"/>
              </a:solidFill>
              <a:effectLst/>
              <a:uFillTx/>
              <a:latin typeface="Arial"/>
            </a:endParaRPr>
          </a:p>
        </p:txBody>
      </p:sp>
      <p:sp>
        <p:nvSpPr>
          <p:cNvPr id="428"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en-US" sz="1200" strike="noStrike" u="none">
                <a:solidFill>
                  <a:srgbClr val="000000"/>
                </a:solidFill>
                <a:effectLst/>
                <a:uFillTx/>
                <a:latin typeface="Times New Roman"/>
              </a:defRPr>
            </a:lvl1pPr>
          </a:lstStyle>
          <a:p>
            <a:pPr indent="0" algn="r">
              <a:lnSpc>
                <a:spcPct val="100000"/>
              </a:lnSpc>
              <a:buNone/>
            </a:pPr>
            <a:fld id="{940DAA8D-2C64-4EEB-A10D-15126B405942}" type="slidenum">
              <a:rPr b="0" lang="en-US" sz="1200" strike="noStrike" u="none">
                <a:solidFill>
                  <a:srgbClr val="000000"/>
                </a:solidFill>
                <a:effectLst/>
                <a:uFillTx/>
                <a:latin typeface="Times New Roman"/>
              </a:rPr>
              <a:t>&lt;число&gt;</a:t>
            </a:fld>
            <a:endParaRPr b="0" lang="bg-BG"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bg-BG" sz="4400" strike="noStrike" u="none">
                <a:solidFill>
                  <a:schemeClr val="dk1"/>
                </a:solidFill>
                <a:effectLst/>
                <a:uFillTx/>
                <a:latin typeface="Calibri Light"/>
              </a:rPr>
              <a:t>Щракнете, за да редактирате формата на заглавието</a:t>
            </a:r>
            <a:endParaRPr b="0" lang="bg-BG" sz="4400" strike="noStrike" u="none">
              <a:solidFill>
                <a:schemeClr val="dk1"/>
              </a:solidFill>
              <a:effectLst/>
              <a:uFillTx/>
              <a:latin typeface="Calibri Light"/>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bg-BG" sz="3200" strike="noStrike" u="none">
                <a:solidFill>
                  <a:schemeClr val="dk1"/>
                </a:solidFill>
                <a:effectLst/>
                <a:uFillTx/>
                <a:latin typeface="Calibri"/>
              </a:rPr>
              <a:t>Щракнете, за да редактирате формата на плана</a:t>
            </a:r>
            <a:endParaRPr b="0" lang="bg-BG"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bg-BG" sz="2400" strike="noStrike" u="none">
                <a:solidFill>
                  <a:schemeClr val="dk1"/>
                </a:solidFill>
                <a:effectLst/>
                <a:uFillTx/>
                <a:latin typeface="Calibri"/>
              </a:rPr>
              <a:t>Второ ниво на плана</a:t>
            </a:r>
            <a:endParaRPr b="0" lang="bg-BG"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bg-BG" sz="2000" strike="noStrike" u="none">
                <a:solidFill>
                  <a:schemeClr val="dk1"/>
                </a:solidFill>
                <a:effectLst/>
                <a:uFillTx/>
                <a:latin typeface="Calibri"/>
              </a:rPr>
              <a:t>Трето ниво на плана</a:t>
            </a:r>
            <a:endParaRPr b="0" lang="bg-BG"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bg-BG" sz="2000" strike="noStrike" u="none">
                <a:solidFill>
                  <a:schemeClr val="dk1"/>
                </a:solidFill>
                <a:effectLst/>
                <a:uFillTx/>
                <a:latin typeface="Calibri"/>
              </a:rPr>
              <a:t>Четвърто ниво на плана</a:t>
            </a:r>
            <a:endParaRPr b="0" lang="bg-BG"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bg-BG" sz="2000" strike="noStrike" u="none">
                <a:solidFill>
                  <a:schemeClr val="dk1"/>
                </a:solidFill>
                <a:effectLst/>
                <a:uFillTx/>
                <a:latin typeface="Calibri"/>
              </a:rPr>
              <a:t>Пето ниво на плана</a:t>
            </a:r>
            <a:endParaRPr b="0" lang="bg-BG"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bg-BG" sz="2000" strike="noStrike" u="none">
                <a:solidFill>
                  <a:schemeClr val="dk1"/>
                </a:solidFill>
                <a:effectLst/>
                <a:uFillTx/>
                <a:latin typeface="Calibri"/>
              </a:rPr>
              <a:t>Шесто ниво на плана</a:t>
            </a:r>
            <a:endParaRPr b="0" lang="bg-BG"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bg-BG" sz="2000" strike="noStrike" u="none">
                <a:solidFill>
                  <a:schemeClr val="dk1"/>
                </a:solidFill>
                <a:effectLst/>
                <a:uFillTx/>
                <a:latin typeface="Calibri"/>
              </a:rPr>
              <a:t>Седмо ниво на плана</a:t>
            </a:r>
            <a:endParaRPr b="0" lang="bg-BG" sz="2000" strike="noStrike" u="non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PTIST_MASTER">
    <p:bg>
      <p:bgPr>
        <a:solidFill>
          <a:srgbClr val="ffffff"/>
        </a:solidFill>
      </p:bgPr>
    </p:bg>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slideLayout" Target="../slideLayouts/slideLayout1.xml"/><Relationship Id="rId11"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6.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19.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jpeg"/><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slideLayout" Target="../slideLayouts/slideLayout1.xml"/><Relationship Id="rId6"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xml"/><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slideLayout" Target="../slideLayouts/slideLayout1.xml"/><Relationship Id="rId6"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jpe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slideLayout" Target="../slideLayouts/slideLayout1.xml"/><Relationship Id="rId7"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2.png"/><Relationship Id="rId5" Type="http://schemas.openxmlformats.org/officeDocument/2006/relationships/hyperlink" Target="https://github.com/Twenkid/SIGI-2025/" TargetMode="External"/><Relationship Id="rId6" Type="http://schemas.openxmlformats.org/officeDocument/2006/relationships/image" Target="../media/image44.png"/><Relationship Id="rId7" Type="http://schemas.openxmlformats.org/officeDocument/2006/relationships/slideLayout" Target="../slideLayouts/slideLayout1.xml"/><Relationship Id="rId8"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 name="Image 0" descr="https://kimi-img.moonshot.cn/pub/slides/slides_tmpl/image/25-08-27-19:57:53-d2nf5g98bjvh7rlivtbg.png"/>
          <p:cNvPicPr/>
          <p:nvPr/>
        </p:nvPicPr>
        <p:blipFill>
          <a:blip r:embed="rId1"/>
          <a:stretch/>
        </p:blipFill>
        <p:spPr>
          <a:xfrm>
            <a:off x="-16560" y="0"/>
            <a:ext cx="12296880" cy="6901560"/>
          </a:xfrm>
          <a:prstGeom prst="rect">
            <a:avLst/>
          </a:prstGeom>
          <a:noFill/>
          <a:ln w="0">
            <a:noFill/>
          </a:ln>
        </p:spPr>
      </p:pic>
      <p:sp>
        <p:nvSpPr>
          <p:cNvPr id="9" name="Text 0"/>
          <p:cNvSpPr/>
          <p:nvPr/>
        </p:nvSpPr>
        <p:spPr>
          <a:xfrm>
            <a:off x="-2320200" y="689400"/>
            <a:ext cx="8800200" cy="93060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1" lang="en-US" sz="8000" strike="noStrike" u="none">
                <a:solidFill>
                  <a:srgbClr val="ffffff"/>
                </a:solidFill>
                <a:effectLst/>
                <a:uFillTx/>
                <a:latin typeface="MiSans"/>
                <a:ea typeface="MiSans"/>
              </a:rPr>
              <a:t>         </a:t>
            </a:r>
            <a:r>
              <a:rPr b="1" lang="en-US" sz="7200" strike="noStrike" u="none">
                <a:solidFill>
                  <a:srgbClr val="ffffff"/>
                </a:solidFill>
                <a:effectLst/>
                <a:uFillTx/>
                <a:latin typeface="MiSans"/>
                <a:ea typeface="MiSans"/>
              </a:rPr>
              <a:t>3 nm Fab</a:t>
            </a:r>
            <a:r>
              <a:rPr b="1" lang="en-US" sz="6600" strike="noStrike" u="none">
                <a:solidFill>
                  <a:srgbClr val="ffffff"/>
                </a:solidFill>
                <a:effectLst/>
                <a:uFillTx/>
                <a:latin typeface="MiSans"/>
                <a:ea typeface="MiSans"/>
              </a:rPr>
              <a:t> </a:t>
            </a:r>
            <a:br>
              <a:rPr sz="6000"/>
            </a:br>
            <a:br>
              <a:rPr sz="6000"/>
            </a:br>
            <a:r>
              <a:rPr b="1" lang="en-US" sz="6000" strike="noStrike" u="none">
                <a:solidFill>
                  <a:srgbClr val="ffffff"/>
                </a:solidFill>
                <a:effectLst/>
                <a:uFillTx/>
                <a:latin typeface="MiSans"/>
                <a:ea typeface="MiSans"/>
              </a:rPr>
              <a:t>            Bulgaria’s</a:t>
            </a:r>
            <a:br>
              <a:rPr sz="6000"/>
            </a:br>
            <a:r>
              <a:rPr b="1" lang="en-US" sz="6000" strike="noStrike" u="none">
                <a:solidFill>
                  <a:srgbClr val="ffffff"/>
                </a:solidFill>
                <a:effectLst/>
                <a:uFillTx/>
                <a:latin typeface="MiSans"/>
                <a:ea typeface="MiSans"/>
              </a:rPr>
              <a:t>          Quantum Leap</a:t>
            </a:r>
            <a:endParaRPr b="0" lang="bg-BG" sz="6000" strike="noStrike" u="none">
              <a:solidFill>
                <a:srgbClr val="000000"/>
              </a:solidFill>
              <a:effectLst/>
              <a:uFillTx/>
              <a:latin typeface="Arial"/>
            </a:endParaRPr>
          </a:p>
        </p:txBody>
      </p:sp>
      <p:sp>
        <p:nvSpPr>
          <p:cNvPr id="10" name="Text 1"/>
          <p:cNvSpPr/>
          <p:nvPr/>
        </p:nvSpPr>
        <p:spPr>
          <a:xfrm>
            <a:off x="7799040" y="5678640"/>
            <a:ext cx="4080960" cy="907920"/>
          </a:xfrm>
          <a:prstGeom prst="rect">
            <a:avLst/>
          </a:prstGeom>
          <a:noFill/>
          <a:ln w="0">
            <a:noFill/>
          </a:ln>
        </p:spPr>
        <p:style>
          <a:lnRef idx="0"/>
          <a:fillRef idx="0"/>
          <a:effectRef idx="0"/>
          <a:fontRef idx="minor"/>
        </p:style>
        <p:txBody>
          <a:bodyPr anchor="t">
            <a:noAutofit/>
          </a:bodyPr>
          <a:p>
            <a:pPr algn="r">
              <a:lnSpc>
                <a:spcPct val="100000"/>
              </a:lnSpc>
              <a:tabLst>
                <a:tab algn="l" pos="0"/>
              </a:tabLst>
            </a:pPr>
            <a:r>
              <a:rPr b="1" lang="en-US" sz="1800" strike="noStrike" u="none">
                <a:solidFill>
                  <a:srgbClr val="ffffff"/>
                </a:solidFill>
                <a:effectLst/>
                <a:uFillTx/>
                <a:latin typeface="Arial"/>
                <a:ea typeface="Arial"/>
              </a:rPr>
              <a:t>Kimi AI &amp; The Sacred Computer</a:t>
            </a:r>
            <a:r>
              <a:rPr b="0" lang="en-US" sz="1800" strike="noStrike" u="none">
                <a:solidFill>
                  <a:srgbClr val="ffffff"/>
                </a:solidFill>
                <a:effectLst/>
                <a:uFillTx/>
                <a:latin typeface="Arial"/>
                <a:ea typeface="Arial"/>
              </a:rPr>
              <a:t> </a:t>
            </a:r>
            <a:endParaRPr b="0" lang="bg-BG" sz="1800" strike="noStrike" u="none">
              <a:solidFill>
                <a:srgbClr val="000000"/>
              </a:solidFill>
              <a:effectLst/>
              <a:uFillTx/>
              <a:latin typeface="Arial"/>
            </a:endParaRPr>
          </a:p>
        </p:txBody>
      </p:sp>
      <p:sp>
        <p:nvSpPr>
          <p:cNvPr id="11" name="Text 2"/>
          <p:cNvSpPr/>
          <p:nvPr/>
        </p:nvSpPr>
        <p:spPr>
          <a:xfrm>
            <a:off x="9937080" y="6047280"/>
            <a:ext cx="1762920" cy="335520"/>
          </a:xfrm>
          <a:prstGeom prst="rect">
            <a:avLst/>
          </a:prstGeom>
          <a:noFill/>
          <a:ln w="0">
            <a:noFill/>
          </a:ln>
        </p:spPr>
        <p:style>
          <a:lnRef idx="0"/>
          <a:fillRef idx="0"/>
          <a:effectRef idx="0"/>
          <a:fontRef idx="minor"/>
        </p:style>
        <p:txBody>
          <a:bodyPr anchor="t">
            <a:spAutoFit/>
          </a:bodyPr>
          <a:p>
            <a:pPr algn="r">
              <a:lnSpc>
                <a:spcPct val="100000"/>
              </a:lnSpc>
              <a:tabLst>
                <a:tab algn="l" pos="0"/>
              </a:tabLst>
            </a:pPr>
            <a:r>
              <a:rPr b="0" lang="en-US" sz="1600" strike="noStrike" u="none">
                <a:solidFill>
                  <a:srgbClr val="ffffff"/>
                </a:solidFill>
                <a:effectLst/>
                <a:uFillTx/>
                <a:latin typeface="Arial"/>
                <a:ea typeface="Arial"/>
              </a:rPr>
              <a:t>8 October 2025</a:t>
            </a:r>
            <a:endParaRPr b="0" lang="bg-BG" sz="1600" strike="noStrike" u="none">
              <a:solidFill>
                <a:srgbClr val="000000"/>
              </a:solidFill>
              <a:effectLst/>
              <a:uFillTx/>
              <a:latin typeface="Arial"/>
            </a:endParaRPr>
          </a:p>
        </p:txBody>
      </p:sp>
      <p:pic>
        <p:nvPicPr>
          <p:cNvPr id="12" name="Image 1" descr="https://kimi-img.moonshot.cn/pub/slides/25-10-09-07:24:20-d3jf590h9476j2hucm50.png"/>
          <p:cNvPicPr/>
          <p:nvPr/>
        </p:nvPicPr>
        <p:blipFill>
          <a:blip r:embed="rId2"/>
          <a:stretch/>
        </p:blipFill>
        <p:spPr>
          <a:xfrm>
            <a:off x="9164160" y="2091600"/>
            <a:ext cx="2755440" cy="271800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 name="Image 0" descr="https://kimi-img.moonshot.cn/pub/slides/slides_tmpl/image/25-08-27-19:57:52-d2nf5g18bjvh7rlivt7g.png"/>
          <p:cNvPicPr/>
          <p:nvPr/>
        </p:nvPicPr>
        <p:blipFill>
          <a:blip r:embed="rId1"/>
          <a:stretch/>
        </p:blipFill>
        <p:spPr>
          <a:xfrm>
            <a:off x="-13320" y="0"/>
            <a:ext cx="12240360" cy="6885720"/>
          </a:xfrm>
          <a:prstGeom prst="rect">
            <a:avLst/>
          </a:prstGeom>
          <a:noFill/>
          <a:ln w="0">
            <a:noFill/>
          </a:ln>
        </p:spPr>
      </p:pic>
      <p:pic>
        <p:nvPicPr>
          <p:cNvPr id="14" name="Image 1" descr="https://kimi-img.moonshot.cn/pub/slides/slides_tmpl/image/25-08-27-19:57:52-d2nf5g18bjvh7rlivt80.png"/>
          <p:cNvPicPr/>
          <p:nvPr/>
        </p:nvPicPr>
        <p:blipFill>
          <a:blip r:embed="rId2"/>
          <a:stretch/>
        </p:blipFill>
        <p:spPr>
          <a:xfrm>
            <a:off x="813960" y="4319280"/>
            <a:ext cx="10521720" cy="1821960"/>
          </a:xfrm>
          <a:prstGeom prst="rect">
            <a:avLst/>
          </a:prstGeom>
          <a:noFill/>
          <a:ln w="0">
            <a:noFill/>
          </a:ln>
        </p:spPr>
      </p:pic>
      <p:pic>
        <p:nvPicPr>
          <p:cNvPr id="15" name="Image 2" descr="https://kimi-img.moonshot.cn/pub/slides/slides_tmpl/image/25-08-27-19:57:51-d2nf5fp8bjvh7rlivt3g.png"/>
          <p:cNvPicPr/>
          <p:nvPr/>
        </p:nvPicPr>
        <p:blipFill>
          <a:blip r:embed="rId3"/>
          <a:stretch/>
        </p:blipFill>
        <p:spPr>
          <a:xfrm>
            <a:off x="2840400" y="912960"/>
            <a:ext cx="6510240" cy="1115280"/>
          </a:xfrm>
          <a:prstGeom prst="rect">
            <a:avLst/>
          </a:prstGeom>
          <a:noFill/>
          <a:ln w="0">
            <a:noFill/>
          </a:ln>
        </p:spPr>
      </p:pic>
      <p:pic>
        <p:nvPicPr>
          <p:cNvPr id="16" name="Image 3" descr="https://kimi-img.moonshot.cn/pub/slides/slides_tmpl/image/25-08-27-19:57:51-d2nf5fp8bjvh7rlivt30.png"/>
          <p:cNvPicPr/>
          <p:nvPr/>
        </p:nvPicPr>
        <p:blipFill>
          <a:blip r:embed="rId4"/>
          <a:stretch/>
        </p:blipFill>
        <p:spPr>
          <a:xfrm>
            <a:off x="669960" y="4269600"/>
            <a:ext cx="700560" cy="682200"/>
          </a:xfrm>
          <a:prstGeom prst="rect">
            <a:avLst/>
          </a:prstGeom>
          <a:noFill/>
          <a:ln w="0">
            <a:noFill/>
          </a:ln>
        </p:spPr>
      </p:pic>
      <p:pic>
        <p:nvPicPr>
          <p:cNvPr id="17" name="Image 4" descr="https://kimi-img.moonshot.cn/pub/slides/slides_tmpl/image/25-08-27-19:57:51-d2nf5fp8bjvh7rlivt2g.png"/>
          <p:cNvPicPr/>
          <p:nvPr/>
        </p:nvPicPr>
        <p:blipFill>
          <a:blip r:embed="rId5"/>
          <a:stretch/>
        </p:blipFill>
        <p:spPr>
          <a:xfrm>
            <a:off x="666720" y="5400000"/>
            <a:ext cx="700560" cy="682200"/>
          </a:xfrm>
          <a:prstGeom prst="rect">
            <a:avLst/>
          </a:prstGeom>
          <a:noFill/>
          <a:ln w="0">
            <a:noFill/>
          </a:ln>
        </p:spPr>
      </p:pic>
      <p:pic>
        <p:nvPicPr>
          <p:cNvPr id="18" name="Image 5" descr="https://kimi-img.moonshot.cn/pub/slides/slides_tmpl/image/25-08-27-19:57:52-d2nf5g18bjvh7rlivt4g.png"/>
          <p:cNvPicPr/>
          <p:nvPr/>
        </p:nvPicPr>
        <p:blipFill>
          <a:blip r:embed="rId6"/>
          <a:stretch/>
        </p:blipFill>
        <p:spPr>
          <a:xfrm>
            <a:off x="4637520" y="4269600"/>
            <a:ext cx="700560" cy="682200"/>
          </a:xfrm>
          <a:prstGeom prst="rect">
            <a:avLst/>
          </a:prstGeom>
          <a:noFill/>
          <a:ln w="0">
            <a:noFill/>
          </a:ln>
        </p:spPr>
      </p:pic>
      <p:pic>
        <p:nvPicPr>
          <p:cNvPr id="19" name="Image 6" descr="https://kimi-img.moonshot.cn/pub/slides/slides_tmpl/image/25-08-27-19:57:52-d2nf5g18bjvh7rlivt5g.png"/>
          <p:cNvPicPr/>
          <p:nvPr/>
        </p:nvPicPr>
        <p:blipFill>
          <a:blip r:embed="rId7"/>
          <a:stretch/>
        </p:blipFill>
        <p:spPr>
          <a:xfrm>
            <a:off x="4637520" y="5400000"/>
            <a:ext cx="700560" cy="682200"/>
          </a:xfrm>
          <a:prstGeom prst="rect">
            <a:avLst/>
          </a:prstGeom>
          <a:noFill/>
          <a:ln w="0">
            <a:noFill/>
          </a:ln>
        </p:spPr>
      </p:pic>
      <p:pic>
        <p:nvPicPr>
          <p:cNvPr id="20" name="Image 7" descr="https://kimi-img.moonshot.cn/pub/slides/slides_tmpl/image/25-08-27-19:57:52-d2nf5g18bjvh7rlivt70.png"/>
          <p:cNvPicPr/>
          <p:nvPr/>
        </p:nvPicPr>
        <p:blipFill>
          <a:blip r:embed="rId8"/>
          <a:stretch/>
        </p:blipFill>
        <p:spPr>
          <a:xfrm>
            <a:off x="8793000" y="4269600"/>
            <a:ext cx="700560" cy="682200"/>
          </a:xfrm>
          <a:prstGeom prst="rect">
            <a:avLst/>
          </a:prstGeom>
          <a:noFill/>
          <a:ln w="0">
            <a:noFill/>
          </a:ln>
        </p:spPr>
      </p:pic>
      <p:pic>
        <p:nvPicPr>
          <p:cNvPr id="21" name="Image 8" descr="https://kimi-img.moonshot.cn/pub/slides/slides_tmpl/image/25-08-27-19:57:52-d2nf5g18bjvh7rlivt8g.png"/>
          <p:cNvPicPr/>
          <p:nvPr/>
        </p:nvPicPr>
        <p:blipFill>
          <a:blip r:embed="rId9"/>
          <a:stretch/>
        </p:blipFill>
        <p:spPr>
          <a:xfrm>
            <a:off x="8750880" y="5409000"/>
            <a:ext cx="700560" cy="682200"/>
          </a:xfrm>
          <a:prstGeom prst="rect">
            <a:avLst/>
          </a:prstGeom>
          <a:noFill/>
          <a:ln w="0">
            <a:noFill/>
          </a:ln>
        </p:spPr>
      </p:pic>
      <p:sp>
        <p:nvSpPr>
          <p:cNvPr id="22" name="Text 0"/>
          <p:cNvSpPr/>
          <p:nvPr/>
        </p:nvSpPr>
        <p:spPr>
          <a:xfrm>
            <a:off x="1370880" y="4444200"/>
            <a:ext cx="2153520" cy="65952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1600" strike="noStrike" u="none">
                <a:solidFill>
                  <a:srgbClr val="ffffff"/>
                </a:solidFill>
                <a:effectLst/>
                <a:uFillTx/>
                <a:latin typeface="MiSans"/>
                <a:ea typeface="MiSans"/>
              </a:rPr>
              <a:t>Vision &amp; Mission</a:t>
            </a:r>
            <a:endParaRPr b="0" lang="bg-BG" sz="1600" strike="noStrike" u="none">
              <a:solidFill>
                <a:srgbClr val="000000"/>
              </a:solidFill>
              <a:effectLst/>
              <a:uFillTx/>
              <a:latin typeface="Arial"/>
            </a:endParaRPr>
          </a:p>
        </p:txBody>
      </p:sp>
      <p:sp>
        <p:nvSpPr>
          <p:cNvPr id="23" name="Text 1"/>
          <p:cNvSpPr/>
          <p:nvPr/>
        </p:nvSpPr>
        <p:spPr>
          <a:xfrm>
            <a:off x="1370880" y="5563080"/>
            <a:ext cx="2152800" cy="65952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1600" strike="noStrike" u="none">
                <a:solidFill>
                  <a:srgbClr val="ffffff"/>
                </a:solidFill>
                <a:effectLst/>
                <a:uFillTx/>
                <a:latin typeface="MiSans"/>
                <a:ea typeface="MiSans"/>
              </a:rPr>
              <a:t>Market &amp; Product</a:t>
            </a:r>
            <a:endParaRPr b="0" lang="bg-BG" sz="1600" strike="noStrike" u="none">
              <a:solidFill>
                <a:srgbClr val="000000"/>
              </a:solidFill>
              <a:effectLst/>
              <a:uFillTx/>
              <a:latin typeface="Arial"/>
            </a:endParaRPr>
          </a:p>
        </p:txBody>
      </p:sp>
      <p:sp>
        <p:nvSpPr>
          <p:cNvPr id="24" name="Text 2"/>
          <p:cNvSpPr/>
          <p:nvPr/>
        </p:nvSpPr>
        <p:spPr>
          <a:xfrm>
            <a:off x="5341680" y="4444200"/>
            <a:ext cx="2058840" cy="65952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1600" strike="noStrike" u="none">
                <a:solidFill>
                  <a:srgbClr val="ffffff"/>
                </a:solidFill>
                <a:effectLst/>
                <a:uFillTx/>
                <a:latin typeface="MiSans"/>
                <a:ea typeface="MiSans"/>
              </a:rPr>
              <a:t>Site &amp; Ecosystem</a:t>
            </a:r>
            <a:endParaRPr b="0" lang="bg-BG" sz="1600" strike="noStrike" u="none">
              <a:solidFill>
                <a:srgbClr val="000000"/>
              </a:solidFill>
              <a:effectLst/>
              <a:uFillTx/>
              <a:latin typeface="Arial"/>
            </a:endParaRPr>
          </a:p>
        </p:txBody>
      </p:sp>
      <p:sp>
        <p:nvSpPr>
          <p:cNvPr id="25" name="Text 3"/>
          <p:cNvSpPr/>
          <p:nvPr/>
        </p:nvSpPr>
        <p:spPr>
          <a:xfrm>
            <a:off x="5341680" y="5563080"/>
            <a:ext cx="2058840" cy="65952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1600" strike="noStrike" u="none">
                <a:solidFill>
                  <a:srgbClr val="ffffff"/>
                </a:solidFill>
                <a:effectLst/>
                <a:uFillTx/>
                <a:latin typeface="MiSans"/>
                <a:ea typeface="MiSans"/>
              </a:rPr>
              <a:t>Technology &amp; Fab</a:t>
            </a:r>
            <a:endParaRPr b="0" lang="bg-BG" sz="1600" strike="noStrike" u="none">
              <a:solidFill>
                <a:srgbClr val="000000"/>
              </a:solidFill>
              <a:effectLst/>
              <a:uFillTx/>
              <a:latin typeface="Arial"/>
            </a:endParaRPr>
          </a:p>
        </p:txBody>
      </p:sp>
      <p:sp>
        <p:nvSpPr>
          <p:cNvPr id="26" name="Text 4"/>
          <p:cNvSpPr/>
          <p:nvPr/>
        </p:nvSpPr>
        <p:spPr>
          <a:xfrm>
            <a:off x="9535680" y="4444200"/>
            <a:ext cx="2036880" cy="65952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1600" strike="noStrike" u="none">
                <a:solidFill>
                  <a:srgbClr val="ffffff"/>
                </a:solidFill>
                <a:effectLst/>
                <a:uFillTx/>
                <a:latin typeface="MiSans"/>
                <a:ea typeface="MiSans"/>
              </a:rPr>
              <a:t>Finance &amp; Timeline</a:t>
            </a:r>
            <a:endParaRPr b="0" lang="bg-BG" sz="1600" strike="noStrike" u="none">
              <a:solidFill>
                <a:srgbClr val="000000"/>
              </a:solidFill>
              <a:effectLst/>
              <a:uFillTx/>
              <a:latin typeface="Arial"/>
            </a:endParaRPr>
          </a:p>
        </p:txBody>
      </p:sp>
      <p:sp>
        <p:nvSpPr>
          <p:cNvPr id="27" name="Text 5"/>
          <p:cNvSpPr/>
          <p:nvPr/>
        </p:nvSpPr>
        <p:spPr>
          <a:xfrm>
            <a:off x="9535680" y="5563080"/>
            <a:ext cx="2036880" cy="65952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1600" strike="noStrike" u="none">
                <a:solidFill>
                  <a:srgbClr val="ffffff"/>
                </a:solidFill>
                <a:effectLst/>
                <a:uFillTx/>
                <a:latin typeface="MiSans"/>
                <a:ea typeface="MiSans"/>
              </a:rPr>
              <a:t>Risk &amp; Governance</a:t>
            </a:r>
            <a:endParaRPr b="0" lang="bg-BG"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Shape 0"/>
          <p:cNvSpPr/>
          <p:nvPr/>
        </p:nvSpPr>
        <p:spPr>
          <a:xfrm>
            <a:off x="0" y="-16560"/>
            <a:ext cx="12195360" cy="6880680"/>
          </a:xfrm>
          <a:prstGeom prst="rect">
            <a:avLst/>
          </a:prstGeom>
          <a:gradFill rotWithShape="0">
            <a:gsLst>
              <a:gs pos="0">
                <a:srgbClr val="f6f8fd"/>
              </a:gs>
              <a:gs pos="100000">
                <a:srgbClr val="bebebe"/>
              </a:gs>
            </a:gsLst>
            <a:lin ang="54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9" name="Text 1"/>
          <p:cNvSpPr/>
          <p:nvPr/>
        </p:nvSpPr>
        <p:spPr>
          <a:xfrm>
            <a:off x="0" y="-16560"/>
            <a:ext cx="12195360" cy="68806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30" name="Image 0" descr="https://kimi-img.moonshot.cn/pub/slides/slides_tmpl/image/25-08-27-19:57:52-d2nf5g18bjvh7rlivt90.png"/>
          <p:cNvPicPr/>
          <p:nvPr/>
        </p:nvPicPr>
        <p:blipFill>
          <a:blip r:embed="rId1"/>
          <a:srcRect l="20539" t="0" r="0" b="0"/>
          <a:stretch/>
        </p:blipFill>
        <p:spPr>
          <a:xfrm>
            <a:off x="1087200" y="-23400"/>
            <a:ext cx="3194280" cy="6857640"/>
          </a:xfrm>
          <a:prstGeom prst="rect">
            <a:avLst/>
          </a:prstGeom>
          <a:noFill/>
          <a:ln w="0">
            <a:noFill/>
          </a:ln>
        </p:spPr>
      </p:pic>
      <p:sp>
        <p:nvSpPr>
          <p:cNvPr id="31" name="Shape 2"/>
          <p:cNvSpPr/>
          <p:nvPr/>
        </p:nvSpPr>
        <p:spPr>
          <a:xfrm>
            <a:off x="5438880" y="-23400"/>
            <a:ext cx="6750360" cy="688104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32" name="Text 3"/>
          <p:cNvSpPr/>
          <p:nvPr/>
        </p:nvSpPr>
        <p:spPr>
          <a:xfrm>
            <a:off x="5438880" y="-23400"/>
            <a:ext cx="6750360" cy="6881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33" name="Text 4"/>
          <p:cNvSpPr/>
          <p:nvPr/>
        </p:nvSpPr>
        <p:spPr>
          <a:xfrm>
            <a:off x="6524640" y="4012560"/>
            <a:ext cx="4441320" cy="1381320"/>
          </a:xfrm>
          <a:prstGeom prst="rect">
            <a:avLst/>
          </a:prstGeom>
          <a:noFill/>
          <a:ln w="0">
            <a:noFill/>
          </a:ln>
        </p:spPr>
        <p:style>
          <a:lnRef idx="0"/>
          <a:fillRef idx="0"/>
          <a:effectRef idx="0"/>
          <a:fontRef idx="minor"/>
        </p:style>
        <p:txBody>
          <a:bodyPr anchor="t">
            <a:noAutofit/>
          </a:bodyPr>
          <a:p>
            <a:pPr algn="ctr">
              <a:lnSpc>
                <a:spcPct val="120000"/>
              </a:lnSpc>
              <a:tabLst>
                <a:tab algn="l" pos="0"/>
              </a:tabLst>
            </a:pPr>
            <a:r>
              <a:rPr b="0" lang="en-US" sz="3200" strike="noStrike" u="none">
                <a:solidFill>
                  <a:srgbClr val="ffffff"/>
                </a:solidFill>
                <a:effectLst/>
                <a:uFillTx/>
                <a:latin typeface="MiSans"/>
                <a:ea typeface="MiSans"/>
              </a:rPr>
              <a:t>Vision &amp; Mission</a:t>
            </a:r>
            <a:endParaRPr b="0" lang="bg-BG" sz="3200" strike="noStrike" u="none">
              <a:solidFill>
                <a:srgbClr val="000000"/>
              </a:solidFill>
              <a:effectLst/>
              <a:uFillTx/>
              <a:latin typeface="Arial"/>
            </a:endParaRPr>
          </a:p>
        </p:txBody>
      </p:sp>
      <p:sp>
        <p:nvSpPr>
          <p:cNvPr id="34" name="Text 5"/>
          <p:cNvSpPr/>
          <p:nvPr/>
        </p:nvSpPr>
        <p:spPr>
          <a:xfrm>
            <a:off x="7765560" y="1823040"/>
            <a:ext cx="1781280" cy="133056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9600" strike="noStrike" u="none">
                <a:solidFill>
                  <a:srgbClr val="ffffff"/>
                </a:solidFill>
                <a:effectLst/>
                <a:uFillTx/>
                <a:latin typeface="MiSans"/>
                <a:ea typeface="MiSans"/>
              </a:rPr>
              <a:t>01</a:t>
            </a:r>
            <a:endParaRPr b="0" lang="bg-BG" sz="9600" strike="noStrike" u="none">
              <a:solidFill>
                <a:srgbClr val="000000"/>
              </a:solidFill>
              <a:effectLst/>
              <a:uFillTx/>
              <a:latin typeface="Arial"/>
            </a:endParaRPr>
          </a:p>
        </p:txBody>
      </p:sp>
      <p:pic>
        <p:nvPicPr>
          <p:cNvPr id="35" name="Image 1" descr="https://kimi-img.moonshot.cn/pub/slides/slides_tmpl/image/25-08-27-19:57:52-d2nf5g18bjvh7rlivtag.png"/>
          <p:cNvPicPr/>
          <p:nvPr/>
        </p:nvPicPr>
        <p:blipFill>
          <a:blip r:embed="rId2"/>
          <a:stretch/>
        </p:blipFill>
        <p:spPr>
          <a:xfrm>
            <a:off x="1328400" y="2077200"/>
            <a:ext cx="2712240" cy="2669760"/>
          </a:xfrm>
          <a:prstGeom prst="rect">
            <a:avLst/>
          </a:prstGeom>
          <a:noFill/>
          <a:ln w="0">
            <a:noFill/>
          </a:ln>
        </p:spPr>
      </p:pic>
      <p:pic>
        <p:nvPicPr>
          <p:cNvPr id="36" name="Image 2" descr="https://kimi-img.moonshot.cn/pub/slides/slides_tmpl/image/25-08-27-19:57:52-d2nf5g18bjvh7rlivt9g.png"/>
          <p:cNvPicPr/>
          <p:nvPr/>
        </p:nvPicPr>
        <p:blipFill>
          <a:blip r:embed="rId3"/>
          <a:stretch/>
        </p:blipFill>
        <p:spPr>
          <a:xfrm>
            <a:off x="9546480" y="2077200"/>
            <a:ext cx="920520" cy="3348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7" name="Image 0" descr="https://kimi-img.moonshot.cn/pub/slides/slides_tmpl/image/25-08-27-19:57:59-d2nf5hp8bjvh7rlivu00.jpg"/>
          <p:cNvPicPr/>
          <p:nvPr/>
        </p:nvPicPr>
        <p:blipFill>
          <a:blip r:embed="rId1"/>
          <a:stretch/>
        </p:blipFill>
        <p:spPr>
          <a:xfrm>
            <a:off x="2520" y="0"/>
            <a:ext cx="4107960" cy="6857640"/>
          </a:xfrm>
          <a:prstGeom prst="rect">
            <a:avLst/>
          </a:prstGeom>
          <a:noFill/>
          <a:ln w="0">
            <a:noFill/>
          </a:ln>
        </p:spPr>
      </p:pic>
      <p:sp>
        <p:nvSpPr>
          <p:cNvPr id="38" name="Shape 0"/>
          <p:cNvSpPr/>
          <p:nvPr/>
        </p:nvSpPr>
        <p:spPr>
          <a:xfrm rot="10800000">
            <a:off x="4110120" y="360"/>
            <a:ext cx="2801880" cy="6346440"/>
          </a:xfrm>
          <a:prstGeom prst="rect">
            <a:avLst/>
          </a:prstGeom>
          <a:gradFill rotWithShape="0">
            <a:gsLst>
              <a:gs pos="0">
                <a:srgbClr val="171717">
                  <a:alpha val="0"/>
                </a:srgbClr>
              </a:gs>
              <a:gs pos="21000">
                <a:srgbClr val="171717">
                  <a:alpha val="0"/>
                </a:srgbClr>
              </a:gs>
              <a:gs pos="95000">
                <a:srgbClr val="1c1c1c">
                  <a:alpha val="46000"/>
                </a:srgbClr>
              </a:gs>
              <a:gs pos="100000">
                <a:srgbClr val="1c1c1c">
                  <a:alpha val="46000"/>
                </a:srgbClr>
              </a:gs>
            </a:gsLst>
            <a:lin ang="24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39" name="Text 1"/>
          <p:cNvSpPr/>
          <p:nvPr/>
        </p:nvSpPr>
        <p:spPr>
          <a:xfrm rot="10800000">
            <a:off x="4110120" y="360"/>
            <a:ext cx="2801880" cy="63464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40" name="Shape 2"/>
          <p:cNvSpPr/>
          <p:nvPr/>
        </p:nvSpPr>
        <p:spPr>
          <a:xfrm rot="10800000">
            <a:off x="9544320" y="-23760"/>
            <a:ext cx="2647080" cy="6370560"/>
          </a:xfrm>
          <a:prstGeom prst="rect">
            <a:avLst/>
          </a:prstGeom>
          <a:gradFill rotWithShape="0">
            <a:gsLst>
              <a:gs pos="0">
                <a:srgbClr val="171717">
                  <a:alpha val="0"/>
                </a:srgbClr>
              </a:gs>
              <a:gs pos="21000">
                <a:srgbClr val="171717">
                  <a:alpha val="0"/>
                </a:srgbClr>
              </a:gs>
              <a:gs pos="95000">
                <a:srgbClr val="1c1c1c">
                  <a:alpha val="46000"/>
                </a:srgbClr>
              </a:gs>
              <a:gs pos="100000">
                <a:srgbClr val="1c1c1c">
                  <a:alpha val="46000"/>
                </a:srgbClr>
              </a:gs>
            </a:gsLst>
            <a:lin ang="24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41" name="Text 3"/>
          <p:cNvSpPr/>
          <p:nvPr/>
        </p:nvSpPr>
        <p:spPr>
          <a:xfrm rot="10800000">
            <a:off x="9544320" y="-23760"/>
            <a:ext cx="2647080" cy="637056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42" name="Shape 4"/>
          <p:cNvSpPr/>
          <p:nvPr/>
        </p:nvSpPr>
        <p:spPr>
          <a:xfrm>
            <a:off x="6912000" y="12600"/>
            <a:ext cx="2633760" cy="6333840"/>
          </a:xfrm>
          <a:prstGeom prst="rect">
            <a:avLst/>
          </a:prstGeom>
          <a:solidFill>
            <a:srgbClr val="1c1c1c"/>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43" name="Text 5"/>
          <p:cNvSpPr/>
          <p:nvPr/>
        </p:nvSpPr>
        <p:spPr>
          <a:xfrm>
            <a:off x="6912000" y="12600"/>
            <a:ext cx="2633760" cy="63338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44" name="Shape 6"/>
          <p:cNvSpPr/>
          <p:nvPr/>
        </p:nvSpPr>
        <p:spPr>
          <a:xfrm rot="5400000">
            <a:off x="6037200" y="-6034680"/>
            <a:ext cx="147600" cy="12231000"/>
          </a:xfrm>
          <a:prstGeom prst="rect">
            <a:avLst/>
          </a:prstGeom>
          <a:solidFill>
            <a:srgbClr val="1c1c1c"/>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45" name="Text 7"/>
          <p:cNvSpPr/>
          <p:nvPr/>
        </p:nvSpPr>
        <p:spPr>
          <a:xfrm rot="5400000">
            <a:off x="6037200" y="-6034680"/>
            <a:ext cx="147600" cy="122310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46" name="Shape 8"/>
          <p:cNvSpPr/>
          <p:nvPr/>
        </p:nvSpPr>
        <p:spPr>
          <a:xfrm>
            <a:off x="4114800" y="37440"/>
            <a:ext cx="360" cy="6872400"/>
          </a:xfrm>
          <a:prstGeom prst="line">
            <a:avLst/>
          </a:prstGeom>
          <a:ln w="19050">
            <a:solidFill>
              <a:srgbClr val="000000"/>
            </a:solidFill>
            <a:round/>
          </a:ln>
        </p:spPr>
        <p:style>
          <a:lnRef idx="0"/>
          <a:fillRef idx="0"/>
          <a:effectRef idx="0"/>
          <a:fontRef idx="minor"/>
        </p:style>
        <p:txBody>
          <a:bodyPr lIns="90000" rIns="90000" tIns="45000" bIns="45000" anchor="t" anchorCtr="1">
            <a:noAutofit/>
          </a:bodyPr>
          <a:p>
            <a:endParaRPr b="0" lang="bg-BG" sz="1800" strike="noStrike" u="none">
              <a:solidFill>
                <a:srgbClr val="000000"/>
              </a:solidFill>
              <a:effectLst/>
              <a:uFillTx/>
              <a:latin typeface="Arial"/>
            </a:endParaRPr>
          </a:p>
        </p:txBody>
      </p:sp>
      <p:sp>
        <p:nvSpPr>
          <p:cNvPr id="47" name="Text 9"/>
          <p:cNvSpPr/>
          <p:nvPr/>
        </p:nvSpPr>
        <p:spPr>
          <a:xfrm>
            <a:off x="369720" y="739800"/>
            <a:ext cx="3552480" cy="1448640"/>
          </a:xfrm>
          <a:prstGeom prst="rect">
            <a:avLst/>
          </a:prstGeom>
          <a:noFill/>
          <a:ln w="0">
            <a:noFill/>
          </a:ln>
        </p:spPr>
        <p:style>
          <a:lnRef idx="0"/>
          <a:fillRef idx="0"/>
          <a:effectRef idx="0"/>
          <a:fontRef idx="minor"/>
        </p:style>
        <p:txBody>
          <a:bodyPr anchor="t">
            <a:noAutofit/>
          </a:bodyPr>
          <a:p>
            <a:pPr algn="r">
              <a:lnSpc>
                <a:spcPct val="120000"/>
              </a:lnSpc>
              <a:tabLst>
                <a:tab algn="l" pos="0"/>
              </a:tabLst>
            </a:pPr>
            <a:r>
              <a:rPr b="1" lang="en-US" sz="3200" strike="noStrike" u="none">
                <a:solidFill>
                  <a:srgbClr val="000000"/>
                </a:solidFill>
                <a:effectLst/>
                <a:uFillTx/>
                <a:latin typeface="MiSans"/>
                <a:ea typeface="MiSans"/>
              </a:rPr>
              <a:t>Sacred Electronics:</a:t>
            </a:r>
            <a:r>
              <a:rPr b="0" lang="en-US" sz="3200" strike="noStrike" u="none">
                <a:solidFill>
                  <a:srgbClr val="000000"/>
                </a:solidFill>
                <a:effectLst/>
                <a:uFillTx/>
                <a:latin typeface="MiSans"/>
                <a:ea typeface="MiSans"/>
              </a:rPr>
              <a:t> 3nm Vision</a:t>
            </a:r>
            <a:endParaRPr b="0" lang="bg-BG" sz="3200" strike="noStrike" u="none">
              <a:solidFill>
                <a:srgbClr val="000000"/>
              </a:solidFill>
              <a:effectLst/>
              <a:uFillTx/>
              <a:latin typeface="Arial"/>
            </a:endParaRPr>
          </a:p>
        </p:txBody>
      </p:sp>
      <p:sp>
        <p:nvSpPr>
          <p:cNvPr id="48" name="Shape 10"/>
          <p:cNvSpPr/>
          <p:nvPr/>
        </p:nvSpPr>
        <p:spPr>
          <a:xfrm>
            <a:off x="3967200" y="6336360"/>
            <a:ext cx="9177840" cy="2160"/>
          </a:xfrm>
          <a:prstGeom prst="line">
            <a:avLst/>
          </a:prstGeom>
          <a:ln w="19050">
            <a:solidFill>
              <a:srgbClr val="0d0d0d"/>
            </a:solidFill>
            <a:round/>
          </a:ln>
        </p:spPr>
        <p:style>
          <a:lnRef idx="0"/>
          <a:fillRef idx="0"/>
          <a:effectRef idx="0"/>
          <a:fontRef idx="minor"/>
        </p:style>
        <p:txBody>
          <a:bodyPr lIns="90000" rIns="90000" tIns="-42840" bIns="-42840" anchor="t" anchorCtr="1">
            <a:noAutofit/>
          </a:bodyPr>
          <a:p>
            <a:endParaRPr b="0" lang="bg-BG" sz="1800" strike="noStrike" u="none">
              <a:solidFill>
                <a:srgbClr val="000000"/>
              </a:solidFill>
              <a:effectLst/>
              <a:uFillTx/>
              <a:latin typeface="Arial"/>
            </a:endParaRPr>
          </a:p>
        </p:txBody>
      </p:sp>
      <p:pic>
        <p:nvPicPr>
          <p:cNvPr id="49" name="Image 1" descr="https://kimi-img.moonshot.cn/pub/slides/slides_tmpl/image/25-08-27-19:57:58-d2nf5hh8bjvh7rlivts0.png"/>
          <p:cNvPicPr/>
          <p:nvPr/>
        </p:nvPicPr>
        <p:blipFill>
          <a:blip r:embed="rId2"/>
          <a:stretch/>
        </p:blipFill>
        <p:spPr>
          <a:xfrm>
            <a:off x="4460400" y="506160"/>
            <a:ext cx="7430400" cy="1682280"/>
          </a:xfrm>
          <a:prstGeom prst="rect">
            <a:avLst/>
          </a:prstGeom>
          <a:noFill/>
          <a:ln w="0">
            <a:noFill/>
          </a:ln>
        </p:spPr>
      </p:pic>
      <p:sp>
        <p:nvSpPr>
          <p:cNvPr id="50" name="Text 11"/>
          <p:cNvSpPr/>
          <p:nvPr/>
        </p:nvSpPr>
        <p:spPr>
          <a:xfrm>
            <a:off x="4302720" y="2922120"/>
            <a:ext cx="265644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European Leadership</a:t>
            </a:r>
            <a:endParaRPr b="0" lang="bg-BG" sz="1800" strike="noStrike" u="none">
              <a:solidFill>
                <a:srgbClr val="000000"/>
              </a:solidFill>
              <a:effectLst/>
              <a:uFillTx/>
              <a:latin typeface="Arial"/>
            </a:endParaRPr>
          </a:p>
        </p:txBody>
      </p:sp>
      <p:sp>
        <p:nvSpPr>
          <p:cNvPr id="51" name="Text 12"/>
          <p:cNvSpPr/>
          <p:nvPr/>
        </p:nvSpPr>
        <p:spPr>
          <a:xfrm>
            <a:off x="4264920" y="3616920"/>
            <a:ext cx="2575080" cy="213948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Founded by AGI visionaries and entrepreneurs,</a:t>
            </a:r>
            <a:br>
              <a:rPr sz="1400"/>
            </a:br>
            <a:r>
              <a:rPr b="1" lang="en-US" sz="1400" strike="noStrike" u="none">
                <a:solidFill>
                  <a:srgbClr val="000000"/>
                </a:solidFill>
                <a:effectLst/>
                <a:uFillTx/>
                <a:latin typeface="MiSans"/>
                <a:ea typeface="MiSans"/>
              </a:rPr>
              <a:t>Sacred Electronics Ltd </a:t>
            </a:r>
            <a:r>
              <a:rPr b="0" lang="en-US" sz="1400" strike="noStrike" u="none">
                <a:solidFill>
                  <a:srgbClr val="000000"/>
                </a:solidFill>
                <a:effectLst/>
                <a:uFillTx/>
                <a:latin typeface="MiSans"/>
                <a:ea typeface="MiSans"/>
              </a:rPr>
              <a:t>aims to be the first to bring 3nm volume production to Europe, ensuring a secure and sovereign semiconductor supply chain within the EU.</a:t>
            </a:r>
            <a:endParaRPr b="0" lang="bg-BG" sz="1400" strike="noStrike" u="none">
              <a:solidFill>
                <a:srgbClr val="000000"/>
              </a:solidFill>
              <a:effectLst/>
              <a:uFillTx/>
              <a:latin typeface="Arial"/>
            </a:endParaRPr>
          </a:p>
        </p:txBody>
      </p:sp>
      <p:sp>
        <p:nvSpPr>
          <p:cNvPr id="52" name="Text 13"/>
          <p:cNvSpPr/>
          <p:nvPr/>
        </p:nvSpPr>
        <p:spPr>
          <a:xfrm>
            <a:off x="6939360" y="2922120"/>
            <a:ext cx="265644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ffffff"/>
                </a:solidFill>
                <a:effectLst/>
                <a:uFillTx/>
                <a:latin typeface="MiSans"/>
                <a:ea typeface="MiSans"/>
              </a:rPr>
              <a:t>Economic Impact</a:t>
            </a:r>
            <a:endParaRPr b="0" lang="bg-BG" sz="1800" strike="noStrike" u="none">
              <a:solidFill>
                <a:srgbClr val="000000"/>
              </a:solidFill>
              <a:effectLst/>
              <a:uFillTx/>
              <a:latin typeface="Arial"/>
            </a:endParaRPr>
          </a:p>
        </p:txBody>
      </p:sp>
      <p:sp>
        <p:nvSpPr>
          <p:cNvPr id="53" name="Text 14"/>
          <p:cNvSpPr/>
          <p:nvPr/>
        </p:nvSpPr>
        <p:spPr>
          <a:xfrm>
            <a:off x="6973560" y="3616920"/>
            <a:ext cx="2488680" cy="168804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ffffff"/>
                </a:solidFill>
                <a:effectLst/>
                <a:uFillTx/>
                <a:latin typeface="MiSans"/>
                <a:ea typeface="MiSans"/>
              </a:rPr>
              <a:t>The project will create 2,000 high-skill jobs and generate €5 billion in exports within five years, significantly boosting Bulgaria’s economy.</a:t>
            </a:r>
            <a:endParaRPr b="0" lang="bg-BG" sz="1400" strike="noStrike" u="none">
              <a:solidFill>
                <a:srgbClr val="000000"/>
              </a:solidFill>
              <a:effectLst/>
              <a:uFillTx/>
              <a:latin typeface="Arial"/>
            </a:endParaRPr>
          </a:p>
        </p:txBody>
      </p:sp>
      <p:sp>
        <p:nvSpPr>
          <p:cNvPr id="54" name="Text 15"/>
          <p:cNvSpPr/>
          <p:nvPr/>
        </p:nvSpPr>
        <p:spPr>
          <a:xfrm>
            <a:off x="9527040" y="2922120"/>
            <a:ext cx="265644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Technological Milestone</a:t>
            </a:r>
            <a:endParaRPr b="0" lang="bg-BG" sz="1800" strike="noStrike" u="none">
              <a:solidFill>
                <a:srgbClr val="000000"/>
              </a:solidFill>
              <a:effectLst/>
              <a:uFillTx/>
              <a:latin typeface="Arial"/>
            </a:endParaRPr>
          </a:p>
        </p:txBody>
      </p:sp>
      <p:sp>
        <p:nvSpPr>
          <p:cNvPr id="55" name="Text 16"/>
          <p:cNvSpPr/>
          <p:nvPr/>
        </p:nvSpPr>
        <p:spPr>
          <a:xfrm>
            <a:off x="9561240" y="3616920"/>
            <a:ext cx="2488680" cy="188352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By anchoring AI, automotive, and telecom supply chains in Europe, </a:t>
            </a:r>
            <a:br>
              <a:rPr sz="1400"/>
            </a:br>
            <a:r>
              <a:rPr b="1" lang="en-US" sz="1400" strike="noStrike" u="none">
                <a:solidFill>
                  <a:srgbClr val="000000"/>
                </a:solidFill>
                <a:effectLst/>
                <a:uFillTx/>
                <a:latin typeface="MiSans"/>
                <a:ea typeface="MiSans"/>
              </a:rPr>
              <a:t>Crazy Electronics</a:t>
            </a:r>
            <a:r>
              <a:rPr b="0" lang="en-US" sz="1400" strike="noStrike" u="none">
                <a:solidFill>
                  <a:srgbClr val="000000"/>
                </a:solidFill>
                <a:effectLst/>
                <a:uFillTx/>
                <a:latin typeface="MiSans"/>
                <a:ea typeface="MiSans"/>
              </a:rPr>
              <a:t> will drive technological advancements and innovation in the region.</a:t>
            </a:r>
            <a:endParaRPr b="0" lang="bg-BG"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 name="Shape 0"/>
          <p:cNvSpPr/>
          <p:nvPr/>
        </p:nvSpPr>
        <p:spPr>
          <a:xfrm rot="10800000">
            <a:off x="-9000" y="2712240"/>
            <a:ext cx="12195360" cy="4145400"/>
          </a:xfrm>
          <a:prstGeom prst="rect">
            <a:avLst/>
          </a:prstGeom>
          <a:solidFill>
            <a:srgbClr val="0d0d0d"/>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57" name="Text 1"/>
          <p:cNvSpPr/>
          <p:nvPr/>
        </p:nvSpPr>
        <p:spPr>
          <a:xfrm rot="10800000">
            <a:off x="-9000" y="2712240"/>
            <a:ext cx="12195360" cy="41454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58" name="Shape 2"/>
          <p:cNvSpPr/>
          <p:nvPr/>
        </p:nvSpPr>
        <p:spPr>
          <a:xfrm rot="10800000">
            <a:off x="6326280" y="0"/>
            <a:ext cx="5860080" cy="4145400"/>
          </a:xfrm>
          <a:prstGeom prst="rect">
            <a:avLst/>
          </a:prstGeom>
          <a:solidFill>
            <a:srgbClr val="0d0d0d"/>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59" name="Text 3"/>
          <p:cNvSpPr/>
          <p:nvPr/>
        </p:nvSpPr>
        <p:spPr>
          <a:xfrm rot="10800000">
            <a:off x="6326280" y="0"/>
            <a:ext cx="5860080" cy="41454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60" name="Image 0" descr="https://kimi-img.moonshot.cn/pub/slides/slides_tmpl/image/25-08-27-19:57:57-d2nf5h98bjvh7rlivtmg.png"/>
          <p:cNvPicPr/>
          <p:nvPr/>
        </p:nvPicPr>
        <p:blipFill>
          <a:blip r:embed="rId1"/>
          <a:stretch/>
        </p:blipFill>
        <p:spPr>
          <a:xfrm>
            <a:off x="953640" y="360000"/>
            <a:ext cx="8562600" cy="3785400"/>
          </a:xfrm>
          <a:prstGeom prst="rect">
            <a:avLst/>
          </a:prstGeom>
          <a:noFill/>
          <a:ln w="0">
            <a:noFill/>
          </a:ln>
        </p:spPr>
      </p:pic>
      <p:sp>
        <p:nvSpPr>
          <p:cNvPr id="61" name="Shape 4"/>
          <p:cNvSpPr/>
          <p:nvPr/>
        </p:nvSpPr>
        <p:spPr>
          <a:xfrm rot="10800000">
            <a:off x="3252240" y="5427360"/>
            <a:ext cx="8939880" cy="745200"/>
          </a:xfrm>
          <a:prstGeom prst="rect">
            <a:avLst/>
          </a:prstGeom>
          <a:solidFill>
            <a:srgbClr val="ffffff"/>
          </a:solidFill>
          <a:ln w="19050">
            <a:solidFill>
              <a:srgbClr val="000000"/>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62" name="Text 5"/>
          <p:cNvSpPr/>
          <p:nvPr/>
        </p:nvSpPr>
        <p:spPr>
          <a:xfrm rot="10800000">
            <a:off x="3252240" y="5427360"/>
            <a:ext cx="8939880" cy="7452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63" name="Text 6"/>
          <p:cNvSpPr/>
          <p:nvPr/>
        </p:nvSpPr>
        <p:spPr>
          <a:xfrm>
            <a:off x="3361680" y="5439960"/>
            <a:ext cx="8015760" cy="691200"/>
          </a:xfrm>
          <a:prstGeom prst="rect">
            <a:avLst/>
          </a:prstGeom>
          <a:noFill/>
          <a:ln w="0">
            <a:noFill/>
          </a:ln>
        </p:spPr>
        <p:style>
          <a:lnRef idx="0"/>
          <a:fillRef idx="0"/>
          <a:effectRef idx="0"/>
          <a:fontRef idx="minor"/>
        </p:style>
        <p:txBody>
          <a:bodyPr anchor="t">
            <a:noAutofit/>
          </a:bodyPr>
          <a:p>
            <a:pPr algn="r">
              <a:lnSpc>
                <a:spcPct val="120000"/>
              </a:lnSpc>
              <a:tabLst>
                <a:tab algn="l" pos="0"/>
              </a:tabLst>
            </a:pPr>
            <a:r>
              <a:rPr b="0" lang="en-US" sz="3600" strike="noStrike" u="none">
                <a:solidFill>
                  <a:srgbClr val="000000"/>
                </a:solidFill>
                <a:effectLst/>
                <a:uFillTx/>
                <a:latin typeface="MiSans"/>
                <a:ea typeface="MiSans"/>
              </a:rPr>
              <a:t>Mission &amp; Core Values</a:t>
            </a:r>
            <a:endParaRPr b="0" lang="bg-BG" sz="3600" strike="noStrike" u="none">
              <a:solidFill>
                <a:srgbClr val="000000"/>
              </a:solidFill>
              <a:effectLst/>
              <a:uFillTx/>
              <a:latin typeface="Arial"/>
            </a:endParaRPr>
          </a:p>
        </p:txBody>
      </p:sp>
      <p:sp>
        <p:nvSpPr>
          <p:cNvPr id="64" name="Shape 7"/>
          <p:cNvSpPr/>
          <p:nvPr/>
        </p:nvSpPr>
        <p:spPr>
          <a:xfrm>
            <a:off x="524520" y="487080"/>
            <a:ext cx="4705560" cy="162828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65" name="Text 8"/>
          <p:cNvSpPr/>
          <p:nvPr/>
        </p:nvSpPr>
        <p:spPr>
          <a:xfrm>
            <a:off x="524520" y="487080"/>
            <a:ext cx="4705560" cy="16282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66" name="Text 9"/>
          <p:cNvSpPr/>
          <p:nvPr/>
        </p:nvSpPr>
        <p:spPr>
          <a:xfrm>
            <a:off x="279360" y="3049200"/>
            <a:ext cx="2835720" cy="70200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ffffff"/>
                </a:solidFill>
                <a:effectLst/>
                <a:uFillTx/>
                <a:latin typeface="MiSans"/>
                <a:ea typeface="MiSans"/>
              </a:rPr>
              <a:t>Mission Statement</a:t>
            </a:r>
            <a:endParaRPr b="0" lang="bg-BG" sz="1800" strike="noStrike" u="none">
              <a:solidFill>
                <a:srgbClr val="000000"/>
              </a:solidFill>
              <a:effectLst/>
              <a:uFillTx/>
              <a:latin typeface="Arial"/>
            </a:endParaRPr>
          </a:p>
        </p:txBody>
      </p:sp>
      <p:sp>
        <p:nvSpPr>
          <p:cNvPr id="67" name="Text 10"/>
          <p:cNvSpPr/>
          <p:nvPr/>
        </p:nvSpPr>
        <p:spPr>
          <a:xfrm>
            <a:off x="280800" y="3898800"/>
            <a:ext cx="2822760" cy="245124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1500" strike="noStrike" u="none">
                <a:solidFill>
                  <a:srgbClr val="ffffff"/>
                </a:solidFill>
                <a:effectLst/>
                <a:uFillTx/>
                <a:latin typeface="MiSans"/>
                <a:ea typeface="MiSans"/>
              </a:rPr>
              <a:t>Our mission is to deliver sovereign, secure, and sustainable nanoelectronics by producing 3nm chips in Bulgaria, ensuring full IP protection and open-foundry neutrality for all customers.</a:t>
            </a:r>
            <a:endParaRPr b="0" lang="bg-BG" sz="1500" strike="noStrike" u="none">
              <a:solidFill>
                <a:srgbClr val="000000"/>
              </a:solidFill>
              <a:effectLst/>
              <a:uFillTx/>
              <a:latin typeface="Arial"/>
            </a:endParaRPr>
          </a:p>
        </p:txBody>
      </p:sp>
      <p:sp>
        <p:nvSpPr>
          <p:cNvPr id="68" name="Text 11"/>
          <p:cNvSpPr/>
          <p:nvPr/>
        </p:nvSpPr>
        <p:spPr>
          <a:xfrm>
            <a:off x="8889480" y="1266120"/>
            <a:ext cx="3052800" cy="70200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ffffff"/>
                </a:solidFill>
                <a:effectLst/>
                <a:uFillTx/>
                <a:latin typeface="MiSans"/>
                <a:ea typeface="MiSans"/>
              </a:rPr>
              <a:t>Core Values</a:t>
            </a:r>
            <a:endParaRPr b="0" lang="bg-BG" sz="1800" strike="noStrike" u="none">
              <a:solidFill>
                <a:srgbClr val="000000"/>
              </a:solidFill>
              <a:effectLst/>
              <a:uFillTx/>
              <a:latin typeface="Arial"/>
            </a:endParaRPr>
          </a:p>
        </p:txBody>
      </p:sp>
      <p:sp>
        <p:nvSpPr>
          <p:cNvPr id="69" name="Text 12"/>
          <p:cNvSpPr/>
          <p:nvPr/>
        </p:nvSpPr>
        <p:spPr>
          <a:xfrm>
            <a:off x="8892000" y="2115720"/>
            <a:ext cx="3038760" cy="245124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1600" strike="noStrike" u="none">
                <a:solidFill>
                  <a:srgbClr val="ffffff"/>
                </a:solidFill>
                <a:effectLst/>
                <a:uFillTx/>
                <a:latin typeface="MiSans"/>
                <a:ea typeface="MiSans"/>
              </a:rPr>
              <a:t>We prioritize zero-carbon roadmap, high reliability, and continuous innovation to meet the evolving needs of our customers and contribute to a sustainable future.</a:t>
            </a:r>
            <a:endParaRPr b="0" lang="bg-BG"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Shape 0"/>
          <p:cNvSpPr/>
          <p:nvPr/>
        </p:nvSpPr>
        <p:spPr>
          <a:xfrm>
            <a:off x="0" y="-16560"/>
            <a:ext cx="12195360" cy="6880680"/>
          </a:xfrm>
          <a:prstGeom prst="rect">
            <a:avLst/>
          </a:prstGeom>
          <a:gradFill rotWithShape="0">
            <a:gsLst>
              <a:gs pos="0">
                <a:srgbClr val="f6f8fd"/>
              </a:gs>
              <a:gs pos="100000">
                <a:srgbClr val="bebebe"/>
              </a:gs>
            </a:gsLst>
            <a:lin ang="54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71" name="Text 1"/>
          <p:cNvSpPr/>
          <p:nvPr/>
        </p:nvSpPr>
        <p:spPr>
          <a:xfrm>
            <a:off x="0" y="-16560"/>
            <a:ext cx="12195360" cy="68806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72" name="Image 0" descr="https://kimi-img.moonshot.cn/pub/slides/slides_tmpl/image/25-08-27-19:57:52-d2nf5g18bjvh7rlivt90.png"/>
          <p:cNvPicPr/>
          <p:nvPr/>
        </p:nvPicPr>
        <p:blipFill>
          <a:blip r:embed="rId1"/>
          <a:srcRect l="20539" t="0" r="0" b="0"/>
          <a:stretch/>
        </p:blipFill>
        <p:spPr>
          <a:xfrm>
            <a:off x="1087200" y="-23400"/>
            <a:ext cx="3194280" cy="6857640"/>
          </a:xfrm>
          <a:prstGeom prst="rect">
            <a:avLst/>
          </a:prstGeom>
          <a:noFill/>
          <a:ln w="0">
            <a:noFill/>
          </a:ln>
        </p:spPr>
      </p:pic>
      <p:sp>
        <p:nvSpPr>
          <p:cNvPr id="73" name="Shape 2"/>
          <p:cNvSpPr/>
          <p:nvPr/>
        </p:nvSpPr>
        <p:spPr>
          <a:xfrm>
            <a:off x="5438880" y="-23400"/>
            <a:ext cx="6750360" cy="688104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74" name="Text 3"/>
          <p:cNvSpPr/>
          <p:nvPr/>
        </p:nvSpPr>
        <p:spPr>
          <a:xfrm>
            <a:off x="5438880" y="-23400"/>
            <a:ext cx="6750360" cy="6881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75" name="Text 4"/>
          <p:cNvSpPr/>
          <p:nvPr/>
        </p:nvSpPr>
        <p:spPr>
          <a:xfrm>
            <a:off x="6524640" y="4012560"/>
            <a:ext cx="4441320" cy="1381320"/>
          </a:xfrm>
          <a:prstGeom prst="rect">
            <a:avLst/>
          </a:prstGeom>
          <a:noFill/>
          <a:ln w="0">
            <a:noFill/>
          </a:ln>
        </p:spPr>
        <p:style>
          <a:lnRef idx="0"/>
          <a:fillRef idx="0"/>
          <a:effectRef idx="0"/>
          <a:fontRef idx="minor"/>
        </p:style>
        <p:txBody>
          <a:bodyPr anchor="t">
            <a:noAutofit/>
          </a:bodyPr>
          <a:p>
            <a:pPr algn="ctr">
              <a:lnSpc>
                <a:spcPct val="120000"/>
              </a:lnSpc>
              <a:tabLst>
                <a:tab algn="l" pos="0"/>
              </a:tabLst>
            </a:pPr>
            <a:r>
              <a:rPr b="0" lang="en-US" sz="3200" strike="noStrike" u="none">
                <a:solidFill>
                  <a:srgbClr val="ffffff"/>
                </a:solidFill>
                <a:effectLst/>
                <a:uFillTx/>
                <a:latin typeface="MiSans"/>
                <a:ea typeface="MiSans"/>
              </a:rPr>
              <a:t>Market &amp; Product</a:t>
            </a:r>
            <a:endParaRPr b="0" lang="bg-BG" sz="3200" strike="noStrike" u="none">
              <a:solidFill>
                <a:srgbClr val="000000"/>
              </a:solidFill>
              <a:effectLst/>
              <a:uFillTx/>
              <a:latin typeface="Arial"/>
            </a:endParaRPr>
          </a:p>
        </p:txBody>
      </p:sp>
      <p:sp>
        <p:nvSpPr>
          <p:cNvPr id="76" name="Text 5"/>
          <p:cNvSpPr/>
          <p:nvPr/>
        </p:nvSpPr>
        <p:spPr>
          <a:xfrm>
            <a:off x="7765560" y="1823040"/>
            <a:ext cx="1781280" cy="133056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9600" strike="noStrike" u="none">
                <a:solidFill>
                  <a:srgbClr val="ffffff"/>
                </a:solidFill>
                <a:effectLst/>
                <a:uFillTx/>
                <a:latin typeface="MiSans"/>
                <a:ea typeface="MiSans"/>
              </a:rPr>
              <a:t>02</a:t>
            </a:r>
            <a:endParaRPr b="0" lang="bg-BG" sz="9600" strike="noStrike" u="none">
              <a:solidFill>
                <a:srgbClr val="000000"/>
              </a:solidFill>
              <a:effectLst/>
              <a:uFillTx/>
              <a:latin typeface="Arial"/>
            </a:endParaRPr>
          </a:p>
        </p:txBody>
      </p:sp>
      <p:pic>
        <p:nvPicPr>
          <p:cNvPr id="77" name="Image 1" descr="https://kimi-img.moonshot.cn/pub/slides/slides_tmpl/image/25-08-27-19:57:52-d2nf5g18bjvh7rlivtag.png"/>
          <p:cNvPicPr/>
          <p:nvPr/>
        </p:nvPicPr>
        <p:blipFill>
          <a:blip r:embed="rId2"/>
          <a:stretch/>
        </p:blipFill>
        <p:spPr>
          <a:xfrm>
            <a:off x="1328400" y="2077200"/>
            <a:ext cx="2712240" cy="2669760"/>
          </a:xfrm>
          <a:prstGeom prst="rect">
            <a:avLst/>
          </a:prstGeom>
          <a:noFill/>
          <a:ln w="0">
            <a:noFill/>
          </a:ln>
        </p:spPr>
      </p:pic>
      <p:pic>
        <p:nvPicPr>
          <p:cNvPr id="78" name="Image 2" descr="https://kimi-img.moonshot.cn/pub/slides/slides_tmpl/image/25-08-27-19:57:52-d2nf5g18bjvh7rlivt9g.png"/>
          <p:cNvPicPr/>
          <p:nvPr/>
        </p:nvPicPr>
        <p:blipFill>
          <a:blip r:embed="rId3"/>
          <a:stretch/>
        </p:blipFill>
        <p:spPr>
          <a:xfrm>
            <a:off x="9546480" y="2077200"/>
            <a:ext cx="920520" cy="33480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9" name="Shape 0"/>
          <p:cNvSpPr/>
          <p:nvPr/>
        </p:nvSpPr>
        <p:spPr>
          <a:xfrm>
            <a:off x="11940480" y="-32400"/>
            <a:ext cx="263880" cy="6890040"/>
          </a:xfrm>
          <a:prstGeom prst="rect">
            <a:avLst/>
          </a:prstGeom>
          <a:gradFill rotWithShape="0">
            <a:gsLst>
              <a:gs pos="0">
                <a:srgbClr val="000000"/>
              </a:gs>
              <a:gs pos="100000">
                <a:srgbClr val="646464">
                  <a:alpha val="82000"/>
                </a:srgbClr>
              </a:gs>
            </a:gsLst>
            <a:lin ang="168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80" name="Text 1"/>
          <p:cNvSpPr/>
          <p:nvPr/>
        </p:nvSpPr>
        <p:spPr>
          <a:xfrm>
            <a:off x="11940480" y="-32400"/>
            <a:ext cx="263880" cy="6890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81" name="Shape 2"/>
          <p:cNvSpPr/>
          <p:nvPr/>
        </p:nvSpPr>
        <p:spPr>
          <a:xfrm>
            <a:off x="0" y="-23400"/>
            <a:ext cx="3475800" cy="6881040"/>
          </a:xfrm>
          <a:prstGeom prst="rect">
            <a:avLst/>
          </a:prstGeom>
          <a:gradFill rotWithShape="0">
            <a:gsLst>
              <a:gs pos="0">
                <a:srgbClr val="000000"/>
              </a:gs>
              <a:gs pos="95000">
                <a:srgbClr val="262626"/>
              </a:gs>
              <a:gs pos="100000">
                <a:srgbClr val="262626"/>
              </a:gs>
            </a:gsLst>
            <a:lin ang="168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82" name="Text 3"/>
          <p:cNvSpPr/>
          <p:nvPr/>
        </p:nvSpPr>
        <p:spPr>
          <a:xfrm>
            <a:off x="0" y="-23400"/>
            <a:ext cx="3475800" cy="6881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83" name="Shape 4"/>
          <p:cNvSpPr/>
          <p:nvPr/>
        </p:nvSpPr>
        <p:spPr>
          <a:xfrm rot="5400000">
            <a:off x="4427280" y="221760"/>
            <a:ext cx="1037880" cy="2877480"/>
          </a:xfrm>
          <a:prstGeom prst="rect">
            <a:avLst/>
          </a:prstGeom>
          <a:gradFill rotWithShape="0">
            <a:gsLst>
              <a:gs pos="0">
                <a:srgbClr val="929e9e"/>
              </a:gs>
              <a:gs pos="100000">
                <a:srgbClr val="ffffff">
                  <a:alpha val="0"/>
                </a:srgbClr>
              </a:gs>
            </a:gsLst>
            <a:lin ang="6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84" name="Text 5"/>
          <p:cNvSpPr/>
          <p:nvPr/>
        </p:nvSpPr>
        <p:spPr>
          <a:xfrm rot="5400000">
            <a:off x="4427280" y="221760"/>
            <a:ext cx="1037880" cy="28774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85" name="Shape 6"/>
          <p:cNvSpPr/>
          <p:nvPr/>
        </p:nvSpPr>
        <p:spPr>
          <a:xfrm>
            <a:off x="3498840" y="3536280"/>
            <a:ext cx="8374680" cy="360"/>
          </a:xfrm>
          <a:prstGeom prst="line">
            <a:avLst/>
          </a:prstGeom>
          <a:ln w="19050">
            <a:solidFill>
              <a:srgbClr val="bebebe"/>
            </a:solidFill>
            <a:round/>
          </a:ln>
        </p:spPr>
        <p:style>
          <a:lnRef idx="0"/>
          <a:fillRef idx="0"/>
          <a:effectRef idx="0"/>
          <a:fontRef idx="minor"/>
        </p:style>
        <p:txBody>
          <a:bodyPr lIns="90000" rIns="90000" tIns="-44640" bIns="-44640" anchor="t" anchorCtr="1">
            <a:noAutofit/>
          </a:bodyPr>
          <a:p>
            <a:endParaRPr b="0" lang="bg-BG" sz="1800" strike="noStrike" u="none">
              <a:solidFill>
                <a:srgbClr val="000000"/>
              </a:solidFill>
              <a:effectLst/>
              <a:uFillTx/>
              <a:latin typeface="Arial"/>
            </a:endParaRPr>
          </a:p>
        </p:txBody>
      </p:sp>
      <p:sp>
        <p:nvSpPr>
          <p:cNvPr id="86" name="Shape 7"/>
          <p:cNvSpPr/>
          <p:nvPr/>
        </p:nvSpPr>
        <p:spPr>
          <a:xfrm flipV="1">
            <a:off x="3471840" y="2157480"/>
            <a:ext cx="8401680" cy="12240"/>
          </a:xfrm>
          <a:prstGeom prst="line">
            <a:avLst/>
          </a:prstGeom>
          <a:ln w="19050">
            <a:solidFill>
              <a:srgbClr val="bebebe"/>
            </a:solidFill>
            <a:round/>
          </a:ln>
        </p:spPr>
        <p:style>
          <a:lnRef idx="0"/>
          <a:fillRef idx="0"/>
          <a:effectRef idx="0"/>
          <a:fontRef idx="minor"/>
        </p:style>
        <p:txBody>
          <a:bodyPr lIns="90000" rIns="90000" tIns="-32760" bIns="-32760" anchor="t" anchorCtr="1">
            <a:noAutofit/>
          </a:bodyPr>
          <a:p>
            <a:endParaRPr b="0" lang="bg-BG" sz="1800" strike="noStrike" u="none">
              <a:solidFill>
                <a:srgbClr val="000000"/>
              </a:solidFill>
              <a:effectLst/>
              <a:uFillTx/>
              <a:latin typeface="Arial"/>
            </a:endParaRPr>
          </a:p>
        </p:txBody>
      </p:sp>
      <p:sp>
        <p:nvSpPr>
          <p:cNvPr id="87" name="Shape 8"/>
          <p:cNvSpPr/>
          <p:nvPr/>
        </p:nvSpPr>
        <p:spPr>
          <a:xfrm>
            <a:off x="3499200" y="4929840"/>
            <a:ext cx="8374320" cy="360"/>
          </a:xfrm>
          <a:prstGeom prst="line">
            <a:avLst/>
          </a:prstGeom>
          <a:ln w="19050">
            <a:solidFill>
              <a:srgbClr val="bebebe"/>
            </a:solidFill>
            <a:round/>
          </a:ln>
        </p:spPr>
        <p:style>
          <a:lnRef idx="0"/>
          <a:fillRef idx="0"/>
          <a:effectRef idx="0"/>
          <a:fontRef idx="minor"/>
        </p:style>
        <p:txBody>
          <a:bodyPr lIns="90000" rIns="90000" tIns="-44640" bIns="-44640" anchor="t" anchorCtr="1">
            <a:noAutofit/>
          </a:bodyPr>
          <a:p>
            <a:endParaRPr b="0" lang="bg-BG" sz="1800" strike="noStrike" u="none">
              <a:solidFill>
                <a:srgbClr val="000000"/>
              </a:solidFill>
              <a:effectLst/>
              <a:uFillTx/>
              <a:latin typeface="Arial"/>
            </a:endParaRPr>
          </a:p>
        </p:txBody>
      </p:sp>
      <p:sp>
        <p:nvSpPr>
          <p:cNvPr id="88" name="Shape 9"/>
          <p:cNvSpPr/>
          <p:nvPr/>
        </p:nvSpPr>
        <p:spPr>
          <a:xfrm rot="5400000">
            <a:off x="4433040" y="1590480"/>
            <a:ext cx="1037880" cy="2877480"/>
          </a:xfrm>
          <a:prstGeom prst="rect">
            <a:avLst/>
          </a:prstGeom>
          <a:gradFill rotWithShape="0">
            <a:gsLst>
              <a:gs pos="0">
                <a:srgbClr val="929e9e"/>
              </a:gs>
              <a:gs pos="100000">
                <a:srgbClr val="ffffff">
                  <a:alpha val="0"/>
                </a:srgbClr>
              </a:gs>
            </a:gsLst>
            <a:lin ang="6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89" name="Text 10"/>
          <p:cNvSpPr/>
          <p:nvPr/>
        </p:nvSpPr>
        <p:spPr>
          <a:xfrm rot="5400000">
            <a:off x="4433040" y="1590480"/>
            <a:ext cx="1037880" cy="28774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90" name="Shape 11"/>
          <p:cNvSpPr/>
          <p:nvPr/>
        </p:nvSpPr>
        <p:spPr>
          <a:xfrm rot="5400000">
            <a:off x="4428000" y="2986920"/>
            <a:ext cx="1037880" cy="2877480"/>
          </a:xfrm>
          <a:prstGeom prst="rect">
            <a:avLst/>
          </a:prstGeom>
          <a:gradFill rotWithShape="0">
            <a:gsLst>
              <a:gs pos="0">
                <a:srgbClr val="929e9e"/>
              </a:gs>
              <a:gs pos="100000">
                <a:srgbClr val="ffffff">
                  <a:alpha val="0"/>
                </a:srgbClr>
              </a:gs>
            </a:gsLst>
            <a:lin ang="6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91" name="Text 12"/>
          <p:cNvSpPr/>
          <p:nvPr/>
        </p:nvSpPr>
        <p:spPr>
          <a:xfrm rot="5400000">
            <a:off x="4428000" y="2986920"/>
            <a:ext cx="1037880" cy="28774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92" name="Shape 13"/>
          <p:cNvSpPr/>
          <p:nvPr/>
        </p:nvSpPr>
        <p:spPr>
          <a:xfrm rot="5400000">
            <a:off x="4433040" y="4383360"/>
            <a:ext cx="1037880" cy="2877480"/>
          </a:xfrm>
          <a:prstGeom prst="rect">
            <a:avLst/>
          </a:prstGeom>
          <a:gradFill rotWithShape="0">
            <a:gsLst>
              <a:gs pos="0">
                <a:srgbClr val="929e9e"/>
              </a:gs>
              <a:gs pos="100000">
                <a:srgbClr val="ffffff">
                  <a:alpha val="0"/>
                </a:srgbClr>
              </a:gs>
            </a:gsLst>
            <a:lin ang="6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93" name="Text 14"/>
          <p:cNvSpPr/>
          <p:nvPr/>
        </p:nvSpPr>
        <p:spPr>
          <a:xfrm rot="5400000">
            <a:off x="4433040" y="4383360"/>
            <a:ext cx="1037880" cy="28774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94" name="Shape 15"/>
          <p:cNvSpPr/>
          <p:nvPr/>
        </p:nvSpPr>
        <p:spPr>
          <a:xfrm>
            <a:off x="3499200" y="6330240"/>
            <a:ext cx="8368200" cy="360"/>
          </a:xfrm>
          <a:prstGeom prst="line">
            <a:avLst/>
          </a:prstGeom>
          <a:ln w="19050">
            <a:solidFill>
              <a:srgbClr val="bebebe"/>
            </a:solidFill>
            <a:round/>
          </a:ln>
        </p:spPr>
        <p:style>
          <a:lnRef idx="0"/>
          <a:fillRef idx="0"/>
          <a:effectRef idx="0"/>
          <a:fontRef idx="minor"/>
        </p:style>
        <p:txBody>
          <a:bodyPr lIns="90000" rIns="90000" tIns="-44640" bIns="-44640" anchor="t" anchorCtr="1">
            <a:noAutofit/>
          </a:bodyPr>
          <a:p>
            <a:endParaRPr b="0" lang="bg-BG" sz="1800" strike="noStrike" u="none">
              <a:solidFill>
                <a:srgbClr val="000000"/>
              </a:solidFill>
              <a:effectLst/>
              <a:uFillTx/>
              <a:latin typeface="Arial"/>
            </a:endParaRPr>
          </a:p>
        </p:txBody>
      </p:sp>
      <p:sp>
        <p:nvSpPr>
          <p:cNvPr id="95" name="Text 16"/>
          <p:cNvSpPr/>
          <p:nvPr/>
        </p:nvSpPr>
        <p:spPr>
          <a:xfrm>
            <a:off x="332640" y="405720"/>
            <a:ext cx="2534040" cy="70560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3200" strike="noStrike" u="none">
                <a:solidFill>
                  <a:srgbClr val="ffffff"/>
                </a:solidFill>
                <a:effectLst/>
                <a:uFillTx/>
                <a:latin typeface="MiSans"/>
                <a:ea typeface="MiSans"/>
              </a:rPr>
              <a:t>3nm Market Gap 2028-2032</a:t>
            </a:r>
            <a:endParaRPr b="0" lang="bg-BG" sz="3200" strike="noStrike" u="none">
              <a:solidFill>
                <a:srgbClr val="000000"/>
              </a:solidFill>
              <a:effectLst/>
              <a:uFillTx/>
              <a:latin typeface="Arial"/>
            </a:endParaRPr>
          </a:p>
        </p:txBody>
      </p:sp>
      <p:sp>
        <p:nvSpPr>
          <p:cNvPr id="96" name="Shape 17"/>
          <p:cNvSpPr/>
          <p:nvPr/>
        </p:nvSpPr>
        <p:spPr>
          <a:xfrm flipV="1">
            <a:off x="11873520" y="-31680"/>
            <a:ext cx="360" cy="6897240"/>
          </a:xfrm>
          <a:prstGeom prst="line">
            <a:avLst/>
          </a:prstGeom>
          <a:ln w="19050">
            <a:solidFill>
              <a:srgbClr val="000000"/>
            </a:solidFill>
            <a:round/>
          </a:ln>
        </p:spPr>
        <p:style>
          <a:lnRef idx="0"/>
          <a:fillRef idx="0"/>
          <a:effectRef idx="0"/>
          <a:fontRef idx="minor"/>
        </p:style>
        <p:txBody>
          <a:bodyPr lIns="90000" rIns="90000" tIns="45000" bIns="45000" anchor="t" anchorCtr="1">
            <a:noAutofit/>
          </a:bodyPr>
          <a:p>
            <a:endParaRPr b="0" lang="bg-BG" sz="1800" strike="noStrike" u="none">
              <a:solidFill>
                <a:srgbClr val="000000"/>
              </a:solidFill>
              <a:effectLst/>
              <a:uFillTx/>
              <a:latin typeface="Arial"/>
            </a:endParaRPr>
          </a:p>
        </p:txBody>
      </p:sp>
      <p:sp>
        <p:nvSpPr>
          <p:cNvPr id="97" name="Shape 18"/>
          <p:cNvSpPr/>
          <p:nvPr/>
        </p:nvSpPr>
        <p:spPr>
          <a:xfrm>
            <a:off x="11867400" y="-23400"/>
            <a:ext cx="75960" cy="6881040"/>
          </a:xfrm>
          <a:prstGeom prst="rect">
            <a:avLst/>
          </a:prstGeom>
          <a:gradFill rotWithShape="0">
            <a:gsLst>
              <a:gs pos="0">
                <a:srgbClr val="000000"/>
              </a:gs>
              <a:gs pos="95000">
                <a:srgbClr val="262626"/>
              </a:gs>
              <a:gs pos="100000">
                <a:srgbClr val="262626"/>
              </a:gs>
            </a:gsLst>
            <a:lin ang="168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98" name="Text 19"/>
          <p:cNvSpPr/>
          <p:nvPr/>
        </p:nvSpPr>
        <p:spPr>
          <a:xfrm>
            <a:off x="11867400" y="-23400"/>
            <a:ext cx="75960" cy="6881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99" name="Image 0" descr="https://kimi-img.moonshot.cn/pub/slides/slides_tmpl/image/25-08-27-19:57:59-d2nf5hp8bjvh7rlivu6g.png"/>
          <p:cNvPicPr/>
          <p:nvPr/>
        </p:nvPicPr>
        <p:blipFill>
          <a:blip r:embed="rId1"/>
          <a:stretch/>
        </p:blipFill>
        <p:spPr>
          <a:xfrm>
            <a:off x="360720" y="1292400"/>
            <a:ext cx="2755080" cy="5565240"/>
          </a:xfrm>
          <a:prstGeom prst="rect">
            <a:avLst/>
          </a:prstGeom>
          <a:noFill/>
          <a:ln w="0">
            <a:noFill/>
          </a:ln>
        </p:spPr>
      </p:pic>
      <p:sp>
        <p:nvSpPr>
          <p:cNvPr id="100" name="Text 20"/>
          <p:cNvSpPr/>
          <p:nvPr/>
        </p:nvSpPr>
        <p:spPr>
          <a:xfrm>
            <a:off x="3579480" y="1374120"/>
            <a:ext cx="1740960" cy="57132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600" strike="noStrike" u="none">
                <a:solidFill>
                  <a:srgbClr val="000000"/>
                </a:solidFill>
                <a:effectLst/>
                <a:uFillTx/>
                <a:latin typeface="MiSans"/>
                <a:ea typeface="MiSans"/>
              </a:rPr>
              <a:t>Market Demand</a:t>
            </a:r>
            <a:endParaRPr b="0" lang="bg-BG" sz="1600" strike="noStrike" u="none">
              <a:solidFill>
                <a:srgbClr val="000000"/>
              </a:solidFill>
              <a:effectLst/>
              <a:uFillTx/>
              <a:latin typeface="Arial"/>
            </a:endParaRPr>
          </a:p>
        </p:txBody>
      </p:sp>
      <p:sp>
        <p:nvSpPr>
          <p:cNvPr id="101" name="Text 21"/>
          <p:cNvSpPr/>
          <p:nvPr/>
        </p:nvSpPr>
        <p:spPr>
          <a:xfrm>
            <a:off x="5448960" y="1229400"/>
            <a:ext cx="6107760" cy="85896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By 2028, European demand for 3nm chips will reach 1.2 million wafers per year, but there is currently no local production capacity to meet this demand.</a:t>
            </a:r>
            <a:endParaRPr b="0" lang="bg-BG" sz="1400" strike="noStrike" u="none">
              <a:solidFill>
                <a:srgbClr val="000000"/>
              </a:solidFill>
              <a:effectLst/>
              <a:uFillTx/>
              <a:latin typeface="Arial"/>
            </a:endParaRPr>
          </a:p>
        </p:txBody>
      </p:sp>
      <p:sp>
        <p:nvSpPr>
          <p:cNvPr id="102" name="Text 22"/>
          <p:cNvSpPr/>
          <p:nvPr/>
        </p:nvSpPr>
        <p:spPr>
          <a:xfrm>
            <a:off x="3579480" y="2740680"/>
            <a:ext cx="1740960" cy="57132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600" strike="noStrike" u="none">
                <a:solidFill>
                  <a:srgbClr val="000000"/>
                </a:solidFill>
                <a:effectLst/>
                <a:uFillTx/>
                <a:latin typeface="MiSans"/>
                <a:ea typeface="MiSans"/>
              </a:rPr>
              <a:t>Competitive Advantage</a:t>
            </a:r>
            <a:endParaRPr b="0" lang="bg-BG" sz="1600" strike="noStrike" u="none">
              <a:solidFill>
                <a:srgbClr val="000000"/>
              </a:solidFill>
              <a:effectLst/>
              <a:uFillTx/>
              <a:latin typeface="Arial"/>
            </a:endParaRPr>
          </a:p>
        </p:txBody>
      </p:sp>
      <p:sp>
        <p:nvSpPr>
          <p:cNvPr id="103" name="Text 23"/>
          <p:cNvSpPr/>
          <p:nvPr/>
        </p:nvSpPr>
        <p:spPr>
          <a:xfrm>
            <a:off x="5454720" y="2597760"/>
            <a:ext cx="6107760" cy="85896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1" lang="en-US" sz="1400" strike="noStrike" u="none">
                <a:solidFill>
                  <a:srgbClr val="000000"/>
                </a:solidFill>
                <a:effectLst/>
                <a:uFillTx/>
                <a:latin typeface="MiSans"/>
                <a:ea typeface="MiSans"/>
              </a:rPr>
              <a:t>Sacred Electronics</a:t>
            </a:r>
            <a:r>
              <a:rPr b="0" lang="en-US" sz="1400" strike="noStrike" u="none">
                <a:solidFill>
                  <a:srgbClr val="000000"/>
                </a:solidFill>
                <a:effectLst/>
                <a:uFillTx/>
                <a:latin typeface="MiSans"/>
                <a:ea typeface="MiSans"/>
              </a:rPr>
              <a:t> will capture 8% of the market by offering 10% lower prices than Asian competitors while maintaining automotive-grade reliability.</a:t>
            </a:r>
            <a:endParaRPr b="0" lang="bg-BG" sz="1400" strike="noStrike" u="none">
              <a:solidFill>
                <a:srgbClr val="000000"/>
              </a:solidFill>
              <a:effectLst/>
              <a:uFillTx/>
              <a:latin typeface="Arial"/>
            </a:endParaRPr>
          </a:p>
        </p:txBody>
      </p:sp>
      <p:sp>
        <p:nvSpPr>
          <p:cNvPr id="104" name="Text 24"/>
          <p:cNvSpPr/>
          <p:nvPr/>
        </p:nvSpPr>
        <p:spPr>
          <a:xfrm>
            <a:off x="3579480" y="4140720"/>
            <a:ext cx="1740960" cy="57132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600" strike="noStrike" u="none">
                <a:solidFill>
                  <a:srgbClr val="000000"/>
                </a:solidFill>
                <a:effectLst/>
                <a:uFillTx/>
                <a:latin typeface="MiSans"/>
                <a:ea typeface="MiSans"/>
              </a:rPr>
              <a:t>Market Opportunity</a:t>
            </a:r>
            <a:endParaRPr b="0" lang="bg-BG" sz="1600" strike="noStrike" u="none">
              <a:solidFill>
                <a:srgbClr val="000000"/>
              </a:solidFill>
              <a:effectLst/>
              <a:uFillTx/>
              <a:latin typeface="Arial"/>
            </a:endParaRPr>
          </a:p>
        </p:txBody>
      </p:sp>
      <p:sp>
        <p:nvSpPr>
          <p:cNvPr id="105" name="Text 25"/>
          <p:cNvSpPr/>
          <p:nvPr/>
        </p:nvSpPr>
        <p:spPr>
          <a:xfrm>
            <a:off x="5449680" y="3994200"/>
            <a:ext cx="6107760" cy="85896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The absence of local 3nm production presents a significant opportunity for </a:t>
            </a:r>
            <a:r>
              <a:rPr b="1" lang="en-US" sz="1400" strike="noStrike" u="none">
                <a:solidFill>
                  <a:srgbClr val="000000"/>
                </a:solidFill>
                <a:effectLst/>
                <a:uFillTx/>
                <a:latin typeface="MiSans"/>
                <a:ea typeface="MiSans"/>
              </a:rPr>
              <a:t>Sacred Electronics</a:t>
            </a:r>
            <a:r>
              <a:rPr b="0" lang="en-US" sz="1400" strike="noStrike" u="none">
                <a:solidFill>
                  <a:srgbClr val="000000"/>
                </a:solidFill>
                <a:effectLst/>
                <a:uFillTx/>
                <a:latin typeface="MiSans"/>
                <a:ea typeface="MiSans"/>
              </a:rPr>
              <a:t> to establish itself as a key player in the European semiconductor market.</a:t>
            </a:r>
            <a:endParaRPr b="0" lang="bg-BG" sz="1400" strike="noStrike" u="none">
              <a:solidFill>
                <a:srgbClr val="000000"/>
              </a:solidFill>
              <a:effectLst/>
              <a:uFillTx/>
              <a:latin typeface="Arial"/>
            </a:endParaRPr>
          </a:p>
        </p:txBody>
      </p:sp>
      <p:sp>
        <p:nvSpPr>
          <p:cNvPr id="106" name="Text 26"/>
          <p:cNvSpPr/>
          <p:nvPr/>
        </p:nvSpPr>
        <p:spPr>
          <a:xfrm>
            <a:off x="3579480" y="5512320"/>
            <a:ext cx="1740960" cy="57132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600" strike="noStrike" u="none">
                <a:solidFill>
                  <a:srgbClr val="000000"/>
                </a:solidFill>
                <a:effectLst/>
                <a:uFillTx/>
                <a:latin typeface="MiSans"/>
                <a:ea typeface="MiSans"/>
              </a:rPr>
              <a:t>Growth Potential</a:t>
            </a:r>
            <a:endParaRPr b="0" lang="bg-BG" sz="1600" strike="noStrike" u="none">
              <a:solidFill>
                <a:srgbClr val="000000"/>
              </a:solidFill>
              <a:effectLst/>
              <a:uFillTx/>
              <a:latin typeface="Arial"/>
            </a:endParaRPr>
          </a:p>
        </p:txBody>
      </p:sp>
      <p:sp>
        <p:nvSpPr>
          <p:cNvPr id="107" name="Text 27"/>
          <p:cNvSpPr/>
          <p:nvPr/>
        </p:nvSpPr>
        <p:spPr>
          <a:xfrm>
            <a:off x="5454720" y="5390640"/>
            <a:ext cx="6107760" cy="85896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By addressing the market gap, </a:t>
            </a:r>
            <a:r>
              <a:rPr b="1" lang="en-US" sz="1400" strike="noStrike" u="none">
                <a:solidFill>
                  <a:srgbClr val="000000"/>
                </a:solidFill>
                <a:effectLst/>
                <a:uFillTx/>
                <a:latin typeface="MiSans"/>
                <a:ea typeface="MiSans"/>
              </a:rPr>
              <a:t>Sacred Electronics</a:t>
            </a:r>
            <a:r>
              <a:rPr b="0" lang="en-US" sz="1400" strike="noStrike" u="none">
                <a:solidFill>
                  <a:srgbClr val="000000"/>
                </a:solidFill>
                <a:effectLst/>
                <a:uFillTx/>
                <a:latin typeface="MiSans"/>
                <a:ea typeface="MiSans"/>
              </a:rPr>
              <a:t> will drive growth in the semiconductor industry and support the development of related technologies.</a:t>
            </a:r>
            <a:endParaRPr b="0" lang="bg-BG"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8" name="Shape 0"/>
          <p:cNvSpPr/>
          <p:nvPr/>
        </p:nvSpPr>
        <p:spPr>
          <a:xfrm rot="5400000">
            <a:off x="9890640" y="4552200"/>
            <a:ext cx="1200600" cy="3419280"/>
          </a:xfrm>
          <a:prstGeom prst="rect">
            <a:avLst/>
          </a:prstGeom>
          <a:solidFill>
            <a:srgbClr val="c0c0c0"/>
          </a:soli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09" name="Text 1"/>
          <p:cNvSpPr/>
          <p:nvPr/>
        </p:nvSpPr>
        <p:spPr>
          <a:xfrm rot="5400000">
            <a:off x="9890640" y="4552200"/>
            <a:ext cx="1200600" cy="34192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10" name="Text 2"/>
          <p:cNvSpPr/>
          <p:nvPr/>
        </p:nvSpPr>
        <p:spPr>
          <a:xfrm>
            <a:off x="782280" y="269280"/>
            <a:ext cx="8233200" cy="89820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3200" strike="noStrike" u="none">
                <a:solidFill>
                  <a:srgbClr val="000000"/>
                </a:solidFill>
                <a:effectLst/>
                <a:uFillTx/>
                <a:latin typeface="MiSans"/>
                <a:ea typeface="MiSans"/>
              </a:rPr>
              <a:t>Product Portfolio Roadmap</a:t>
            </a:r>
            <a:endParaRPr b="0" lang="bg-BG" sz="3200" strike="noStrike" u="none">
              <a:solidFill>
                <a:srgbClr val="000000"/>
              </a:solidFill>
              <a:effectLst/>
              <a:uFillTx/>
              <a:latin typeface="Arial"/>
            </a:endParaRPr>
          </a:p>
        </p:txBody>
      </p:sp>
      <p:sp>
        <p:nvSpPr>
          <p:cNvPr id="111" name="Shape 3"/>
          <p:cNvSpPr/>
          <p:nvPr/>
        </p:nvSpPr>
        <p:spPr>
          <a:xfrm rot="5400000">
            <a:off x="-1123920" y="3177720"/>
            <a:ext cx="4484520" cy="471600"/>
          </a:xfrm>
          <a:prstGeom prst="rect">
            <a:avLst/>
          </a:prstGeom>
          <a:solidFill>
            <a:srgbClr val="ffffff"/>
          </a:solidFill>
          <a:ln w="19050">
            <a:solidFill>
              <a:srgbClr val="000000"/>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12" name="Text 4"/>
          <p:cNvSpPr/>
          <p:nvPr/>
        </p:nvSpPr>
        <p:spPr>
          <a:xfrm rot="5400000">
            <a:off x="-1123920" y="3177720"/>
            <a:ext cx="4484520" cy="4716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13" name="Shape 5"/>
          <p:cNvSpPr/>
          <p:nvPr/>
        </p:nvSpPr>
        <p:spPr>
          <a:xfrm>
            <a:off x="0" y="5656320"/>
            <a:ext cx="12212640" cy="5760"/>
          </a:xfrm>
          <a:prstGeom prst="line">
            <a:avLst/>
          </a:prstGeom>
          <a:ln w="19050">
            <a:solidFill>
              <a:srgbClr val="000000"/>
            </a:solidFill>
            <a:round/>
          </a:ln>
        </p:spPr>
        <p:style>
          <a:lnRef idx="0"/>
          <a:fillRef idx="0"/>
          <a:effectRef idx="0"/>
          <a:fontRef idx="minor"/>
        </p:style>
        <p:txBody>
          <a:bodyPr lIns="90000" rIns="90000" tIns="-39240" bIns="-39240" anchor="t" anchorCtr="1">
            <a:noAutofit/>
          </a:bodyPr>
          <a:p>
            <a:endParaRPr b="0" lang="bg-BG" sz="1800" strike="noStrike" u="none">
              <a:solidFill>
                <a:srgbClr val="000000"/>
              </a:solidFill>
              <a:effectLst/>
              <a:uFillTx/>
              <a:latin typeface="Arial"/>
            </a:endParaRPr>
          </a:p>
        </p:txBody>
      </p:sp>
      <p:sp>
        <p:nvSpPr>
          <p:cNvPr id="114" name="Shape 6"/>
          <p:cNvSpPr/>
          <p:nvPr/>
        </p:nvSpPr>
        <p:spPr>
          <a:xfrm>
            <a:off x="0" y="1171440"/>
            <a:ext cx="12212640" cy="5760"/>
          </a:xfrm>
          <a:prstGeom prst="line">
            <a:avLst/>
          </a:prstGeom>
          <a:ln w="19050">
            <a:solidFill>
              <a:srgbClr val="000000"/>
            </a:solidFill>
            <a:round/>
          </a:ln>
        </p:spPr>
        <p:style>
          <a:lnRef idx="0"/>
          <a:fillRef idx="0"/>
          <a:effectRef idx="0"/>
          <a:fontRef idx="minor"/>
        </p:style>
        <p:txBody>
          <a:bodyPr lIns="90000" rIns="90000" tIns="-39240" bIns="-39240" anchor="t" anchorCtr="1">
            <a:noAutofit/>
          </a:bodyPr>
          <a:p>
            <a:endParaRPr b="0" lang="bg-BG" sz="1800" strike="noStrike" u="none">
              <a:solidFill>
                <a:srgbClr val="000000"/>
              </a:solidFill>
              <a:effectLst/>
              <a:uFillTx/>
              <a:latin typeface="Arial"/>
            </a:endParaRPr>
          </a:p>
        </p:txBody>
      </p:sp>
      <p:sp>
        <p:nvSpPr>
          <p:cNvPr id="115" name="Shape 7"/>
          <p:cNvSpPr/>
          <p:nvPr/>
        </p:nvSpPr>
        <p:spPr>
          <a:xfrm rot="5400000">
            <a:off x="-1801080" y="2971080"/>
            <a:ext cx="4484520" cy="881640"/>
          </a:xfrm>
          <a:prstGeom prst="rect">
            <a:avLst/>
          </a:prstGeom>
          <a:solidFill>
            <a:srgbClr val="c0c0c0"/>
          </a:solidFill>
          <a:ln w="19050">
            <a:solidFill>
              <a:srgbClr val="000000"/>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16" name="Text 8"/>
          <p:cNvSpPr/>
          <p:nvPr/>
        </p:nvSpPr>
        <p:spPr>
          <a:xfrm rot="5400000">
            <a:off x="-1801080" y="2971080"/>
            <a:ext cx="4484520" cy="8816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17" name="Shape 9"/>
          <p:cNvSpPr/>
          <p:nvPr/>
        </p:nvSpPr>
        <p:spPr>
          <a:xfrm rot="5400000">
            <a:off x="9032040" y="-2004840"/>
            <a:ext cx="219240" cy="6119640"/>
          </a:xfrm>
          <a:prstGeom prst="rect">
            <a:avLst/>
          </a:prstGeom>
          <a:solidFill>
            <a:srgbClr val="c0c0c0"/>
          </a:soli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18" name="Text 10"/>
          <p:cNvSpPr/>
          <p:nvPr/>
        </p:nvSpPr>
        <p:spPr>
          <a:xfrm rot="5400000">
            <a:off x="9032040" y="-2004840"/>
            <a:ext cx="219240" cy="61196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19" name="Shape 11"/>
          <p:cNvSpPr/>
          <p:nvPr/>
        </p:nvSpPr>
        <p:spPr>
          <a:xfrm>
            <a:off x="4008240" y="1165320"/>
            <a:ext cx="4771080" cy="221400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120" name="Text 12"/>
          <p:cNvSpPr/>
          <p:nvPr/>
        </p:nvSpPr>
        <p:spPr>
          <a:xfrm>
            <a:off x="4008240" y="1165320"/>
            <a:ext cx="4771080" cy="22140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21" name="Shape 13"/>
          <p:cNvSpPr/>
          <p:nvPr/>
        </p:nvSpPr>
        <p:spPr>
          <a:xfrm>
            <a:off x="1353960" y="3373200"/>
            <a:ext cx="4732920" cy="228240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122" name="Text 14"/>
          <p:cNvSpPr/>
          <p:nvPr/>
        </p:nvSpPr>
        <p:spPr>
          <a:xfrm>
            <a:off x="1353960" y="3373200"/>
            <a:ext cx="4732920" cy="22824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23" name="Shape 15"/>
          <p:cNvSpPr/>
          <p:nvPr/>
        </p:nvSpPr>
        <p:spPr>
          <a:xfrm rot="5400000">
            <a:off x="7824600" y="2113560"/>
            <a:ext cx="4487760" cy="2596320"/>
          </a:xfrm>
          <a:prstGeom prst="rect">
            <a:avLst/>
          </a:prstGeom>
          <a:gradFill rotWithShape="0">
            <a:gsLst>
              <a:gs pos="0">
                <a:srgbClr val="262626"/>
              </a:gs>
              <a:gs pos="20000">
                <a:srgbClr val="262626"/>
              </a:gs>
              <a:gs pos="100000">
                <a:srgbClr val="000000"/>
              </a:gs>
            </a:gsLst>
            <a:lin ang="132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24" name="Text 16"/>
          <p:cNvSpPr/>
          <p:nvPr/>
        </p:nvSpPr>
        <p:spPr>
          <a:xfrm rot="5400000">
            <a:off x="7824600" y="2113560"/>
            <a:ext cx="4487760" cy="259632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25" name="Shape 17"/>
          <p:cNvSpPr/>
          <p:nvPr/>
        </p:nvSpPr>
        <p:spPr>
          <a:xfrm rot="5400000">
            <a:off x="1604880" y="927360"/>
            <a:ext cx="2200680" cy="2701080"/>
          </a:xfrm>
          <a:prstGeom prst="rect">
            <a:avLst/>
          </a:prstGeom>
          <a:solidFill>
            <a:srgbClr val="ffffff"/>
          </a:solidFill>
          <a:ln w="19050">
            <a:solidFill>
              <a:srgbClr val="000000"/>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26" name="Text 18"/>
          <p:cNvSpPr/>
          <p:nvPr/>
        </p:nvSpPr>
        <p:spPr>
          <a:xfrm rot="5400000">
            <a:off x="1604880" y="927360"/>
            <a:ext cx="2200680" cy="27010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27" name="Shape 19"/>
          <p:cNvSpPr/>
          <p:nvPr/>
        </p:nvSpPr>
        <p:spPr>
          <a:xfrm rot="5400000">
            <a:off x="6293880" y="3166560"/>
            <a:ext cx="2274840" cy="2701080"/>
          </a:xfrm>
          <a:prstGeom prst="rect">
            <a:avLst/>
          </a:prstGeom>
          <a:solidFill>
            <a:srgbClr val="ffffff"/>
          </a:solidFill>
          <a:ln w="19050">
            <a:solidFill>
              <a:srgbClr val="000000"/>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28" name="Text 20"/>
          <p:cNvSpPr/>
          <p:nvPr/>
        </p:nvSpPr>
        <p:spPr>
          <a:xfrm rot="5400000">
            <a:off x="6293880" y="3166560"/>
            <a:ext cx="2274840" cy="27010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129" name="Image 0" descr="https://kimi-img.moonshot.cn/pub/slides/slides_tmpl/image/25-08-27-19:57:59-d2nf5hp8bjvh7rlivu3g.png"/>
          <p:cNvPicPr/>
          <p:nvPr/>
        </p:nvPicPr>
        <p:blipFill>
          <a:blip r:embed="rId1"/>
          <a:srcRect l="0" t="0" r="76257" b="59191"/>
          <a:stretch/>
        </p:blipFill>
        <p:spPr>
          <a:xfrm>
            <a:off x="1537920" y="1338120"/>
            <a:ext cx="2475000" cy="2034360"/>
          </a:xfrm>
          <a:prstGeom prst="rect">
            <a:avLst/>
          </a:prstGeom>
          <a:noFill/>
          <a:ln w="0">
            <a:noFill/>
          </a:ln>
        </p:spPr>
      </p:pic>
      <p:pic>
        <p:nvPicPr>
          <p:cNvPr id="130" name="Image 1" descr="https://kimi-img.moonshot.cn/pub/slides/slides_tmpl/image/25-08-27-19:57:59-d2nf5hp8bjvh7rlivu3g.png"/>
          <p:cNvPicPr/>
          <p:nvPr/>
        </p:nvPicPr>
        <p:blipFill>
          <a:blip r:embed="rId2"/>
          <a:srcRect l="44685" t="43114" r="31572" b="16077"/>
          <a:stretch/>
        </p:blipFill>
        <p:spPr>
          <a:xfrm>
            <a:off x="6191280" y="3580200"/>
            <a:ext cx="2475000" cy="2034360"/>
          </a:xfrm>
          <a:prstGeom prst="rect">
            <a:avLst/>
          </a:prstGeom>
          <a:noFill/>
          <a:ln w="0">
            <a:noFill/>
          </a:ln>
        </p:spPr>
      </p:pic>
      <p:sp>
        <p:nvSpPr>
          <p:cNvPr id="131" name="Text 21"/>
          <p:cNvSpPr/>
          <p:nvPr/>
        </p:nvSpPr>
        <p:spPr>
          <a:xfrm>
            <a:off x="4257000" y="1338120"/>
            <a:ext cx="235800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ffffff"/>
                </a:solidFill>
                <a:effectLst/>
                <a:uFillTx/>
                <a:latin typeface="MiSans"/>
                <a:ea typeface="MiSans"/>
              </a:rPr>
              <a:t>Phase 1</a:t>
            </a:r>
            <a:endParaRPr b="0" lang="bg-BG" sz="1800" strike="noStrike" u="none">
              <a:solidFill>
                <a:srgbClr val="000000"/>
              </a:solidFill>
              <a:effectLst/>
              <a:uFillTx/>
              <a:latin typeface="Arial"/>
            </a:endParaRPr>
          </a:p>
        </p:txBody>
      </p:sp>
      <p:sp>
        <p:nvSpPr>
          <p:cNvPr id="132" name="Text 22"/>
          <p:cNvSpPr/>
          <p:nvPr/>
        </p:nvSpPr>
        <p:spPr>
          <a:xfrm>
            <a:off x="4271760" y="1781280"/>
            <a:ext cx="4248360" cy="112500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ffffff"/>
                </a:solidFill>
                <a:effectLst/>
                <a:uFillTx/>
                <a:latin typeface="MiSans"/>
                <a:ea typeface="MiSans"/>
              </a:rPr>
              <a:t>Phase 1 will deliver 3nm AI accelerators, mobile SoC tiles, and 112G SerDes IP blocks, targeting high-performance computing and mobile applications.</a:t>
            </a:r>
            <a:endParaRPr b="0" lang="bg-BG" sz="1400" strike="noStrike" u="none">
              <a:solidFill>
                <a:srgbClr val="000000"/>
              </a:solidFill>
              <a:effectLst/>
              <a:uFillTx/>
              <a:latin typeface="Arial"/>
            </a:endParaRPr>
          </a:p>
        </p:txBody>
      </p:sp>
      <p:sp>
        <p:nvSpPr>
          <p:cNvPr id="133" name="Text 23"/>
          <p:cNvSpPr/>
          <p:nvPr/>
        </p:nvSpPr>
        <p:spPr>
          <a:xfrm>
            <a:off x="1577520" y="3674880"/>
            <a:ext cx="235800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ffffff"/>
                </a:solidFill>
                <a:effectLst/>
                <a:uFillTx/>
                <a:latin typeface="MiSans"/>
                <a:ea typeface="MiSans"/>
              </a:rPr>
              <a:t>Phase 2</a:t>
            </a:r>
            <a:endParaRPr b="0" lang="bg-BG" sz="1800" strike="noStrike" u="none">
              <a:solidFill>
                <a:srgbClr val="000000"/>
              </a:solidFill>
              <a:effectLst/>
              <a:uFillTx/>
              <a:latin typeface="Arial"/>
            </a:endParaRPr>
          </a:p>
        </p:txBody>
      </p:sp>
      <p:sp>
        <p:nvSpPr>
          <p:cNvPr id="134" name="Text 24"/>
          <p:cNvSpPr/>
          <p:nvPr/>
        </p:nvSpPr>
        <p:spPr>
          <a:xfrm>
            <a:off x="1591920" y="4118040"/>
            <a:ext cx="4247640" cy="112500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ffffff"/>
                </a:solidFill>
                <a:effectLst/>
                <a:uFillTx/>
                <a:latin typeface="MiSans"/>
                <a:ea typeface="MiSans"/>
              </a:rPr>
              <a:t>Phase 2 will introduce 3nm automotive MCUs and RF-AiP for 6G, expanding our product portfolio to meet the growing demands of the automotive and telecom industries.</a:t>
            </a:r>
            <a:endParaRPr b="0" lang="bg-BG" sz="1400" strike="noStrike" u="none">
              <a:solidFill>
                <a:srgbClr val="000000"/>
              </a:solidFill>
              <a:effectLst/>
              <a:uFillTx/>
              <a:latin typeface="Arial"/>
            </a:endParaRPr>
          </a:p>
        </p:txBody>
      </p:sp>
      <p:sp>
        <p:nvSpPr>
          <p:cNvPr id="135" name="Text 25"/>
          <p:cNvSpPr/>
          <p:nvPr/>
        </p:nvSpPr>
        <p:spPr>
          <a:xfrm>
            <a:off x="9191520" y="1428120"/>
            <a:ext cx="1753560" cy="31788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ffffff"/>
                </a:solidFill>
                <a:effectLst/>
                <a:uFillTx/>
                <a:latin typeface="MiSans"/>
                <a:ea typeface="MiSans"/>
              </a:rPr>
              <a:t>Phase 3</a:t>
            </a:r>
            <a:endParaRPr b="0" lang="bg-BG" sz="1800" strike="noStrike" u="none">
              <a:solidFill>
                <a:srgbClr val="000000"/>
              </a:solidFill>
              <a:effectLst/>
              <a:uFillTx/>
              <a:latin typeface="Arial"/>
            </a:endParaRPr>
          </a:p>
        </p:txBody>
      </p:sp>
      <p:sp>
        <p:nvSpPr>
          <p:cNvPr id="136" name="Text 26"/>
          <p:cNvSpPr/>
          <p:nvPr/>
        </p:nvSpPr>
        <p:spPr>
          <a:xfrm>
            <a:off x="9191520" y="2273760"/>
            <a:ext cx="1753560" cy="248220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300" strike="noStrike" u="none">
                <a:solidFill>
                  <a:srgbClr val="ffffff"/>
                </a:solidFill>
                <a:effectLst/>
                <a:uFillTx/>
                <a:latin typeface="MiSans"/>
                <a:ea typeface="MiSans"/>
              </a:rPr>
              <a:t>Phase 3 will focus on migrating to 2nm GAA technology with EU-funded pilot lines, keeping Bulgaria at the forefront of semiconductor innovation.</a:t>
            </a:r>
            <a:endParaRPr b="0" lang="bg-BG"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7" name="Shape 0"/>
          <p:cNvSpPr/>
          <p:nvPr/>
        </p:nvSpPr>
        <p:spPr>
          <a:xfrm>
            <a:off x="0" y="-16560"/>
            <a:ext cx="12195360" cy="6880680"/>
          </a:xfrm>
          <a:prstGeom prst="rect">
            <a:avLst/>
          </a:prstGeom>
          <a:gradFill rotWithShape="0">
            <a:gsLst>
              <a:gs pos="0">
                <a:srgbClr val="f6f8fd"/>
              </a:gs>
              <a:gs pos="100000">
                <a:srgbClr val="bebebe"/>
              </a:gs>
            </a:gsLst>
            <a:lin ang="54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38" name="Text 1"/>
          <p:cNvSpPr/>
          <p:nvPr/>
        </p:nvSpPr>
        <p:spPr>
          <a:xfrm>
            <a:off x="0" y="-16560"/>
            <a:ext cx="12195360" cy="68806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139" name="Image 0" descr="https://kimi-img.moonshot.cn/pub/slides/slides_tmpl/image/25-08-27-19:57:52-d2nf5g18bjvh7rlivt90.png"/>
          <p:cNvPicPr/>
          <p:nvPr/>
        </p:nvPicPr>
        <p:blipFill>
          <a:blip r:embed="rId1"/>
          <a:srcRect l="20539" t="0" r="0" b="0"/>
          <a:stretch/>
        </p:blipFill>
        <p:spPr>
          <a:xfrm>
            <a:off x="1087200" y="-23400"/>
            <a:ext cx="3194280" cy="6857640"/>
          </a:xfrm>
          <a:prstGeom prst="rect">
            <a:avLst/>
          </a:prstGeom>
          <a:noFill/>
          <a:ln w="0">
            <a:noFill/>
          </a:ln>
        </p:spPr>
      </p:pic>
      <p:sp>
        <p:nvSpPr>
          <p:cNvPr id="140" name="Shape 2"/>
          <p:cNvSpPr/>
          <p:nvPr/>
        </p:nvSpPr>
        <p:spPr>
          <a:xfrm>
            <a:off x="5438880" y="-23400"/>
            <a:ext cx="6750360" cy="688104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141" name="Text 3"/>
          <p:cNvSpPr/>
          <p:nvPr/>
        </p:nvSpPr>
        <p:spPr>
          <a:xfrm>
            <a:off x="5438880" y="-23400"/>
            <a:ext cx="6750360" cy="6881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42" name="Text 4"/>
          <p:cNvSpPr/>
          <p:nvPr/>
        </p:nvSpPr>
        <p:spPr>
          <a:xfrm>
            <a:off x="6524640" y="4012560"/>
            <a:ext cx="4441320" cy="1381320"/>
          </a:xfrm>
          <a:prstGeom prst="rect">
            <a:avLst/>
          </a:prstGeom>
          <a:noFill/>
          <a:ln w="0">
            <a:noFill/>
          </a:ln>
        </p:spPr>
        <p:style>
          <a:lnRef idx="0"/>
          <a:fillRef idx="0"/>
          <a:effectRef idx="0"/>
          <a:fontRef idx="minor"/>
        </p:style>
        <p:txBody>
          <a:bodyPr anchor="t">
            <a:noAutofit/>
          </a:bodyPr>
          <a:p>
            <a:pPr algn="ctr">
              <a:lnSpc>
                <a:spcPct val="120000"/>
              </a:lnSpc>
              <a:tabLst>
                <a:tab algn="l" pos="0"/>
              </a:tabLst>
            </a:pPr>
            <a:r>
              <a:rPr b="0" lang="en-US" sz="3200" strike="noStrike" u="none">
                <a:solidFill>
                  <a:srgbClr val="ffffff"/>
                </a:solidFill>
                <a:effectLst/>
                <a:uFillTx/>
                <a:latin typeface="MiSans"/>
                <a:ea typeface="MiSans"/>
              </a:rPr>
              <a:t>Site &amp; Ecosystem</a:t>
            </a:r>
            <a:endParaRPr b="0" lang="bg-BG" sz="3200" strike="noStrike" u="none">
              <a:solidFill>
                <a:srgbClr val="000000"/>
              </a:solidFill>
              <a:effectLst/>
              <a:uFillTx/>
              <a:latin typeface="Arial"/>
            </a:endParaRPr>
          </a:p>
        </p:txBody>
      </p:sp>
      <p:sp>
        <p:nvSpPr>
          <p:cNvPr id="143" name="Text 5"/>
          <p:cNvSpPr/>
          <p:nvPr/>
        </p:nvSpPr>
        <p:spPr>
          <a:xfrm>
            <a:off x="7765560" y="1823040"/>
            <a:ext cx="1781280" cy="133056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9600" strike="noStrike" u="none">
                <a:solidFill>
                  <a:srgbClr val="ffffff"/>
                </a:solidFill>
                <a:effectLst/>
                <a:uFillTx/>
                <a:latin typeface="MiSans"/>
                <a:ea typeface="MiSans"/>
              </a:rPr>
              <a:t>03</a:t>
            </a:r>
            <a:endParaRPr b="0" lang="bg-BG" sz="9600" strike="noStrike" u="none">
              <a:solidFill>
                <a:srgbClr val="000000"/>
              </a:solidFill>
              <a:effectLst/>
              <a:uFillTx/>
              <a:latin typeface="Arial"/>
            </a:endParaRPr>
          </a:p>
        </p:txBody>
      </p:sp>
      <p:pic>
        <p:nvPicPr>
          <p:cNvPr id="144" name="Image 1" descr="https://kimi-img.moonshot.cn/pub/slides/slides_tmpl/image/25-08-27-19:57:52-d2nf5g18bjvh7rlivtag.png"/>
          <p:cNvPicPr/>
          <p:nvPr/>
        </p:nvPicPr>
        <p:blipFill>
          <a:blip r:embed="rId2"/>
          <a:stretch/>
        </p:blipFill>
        <p:spPr>
          <a:xfrm>
            <a:off x="1328400" y="2077200"/>
            <a:ext cx="2712240" cy="2669760"/>
          </a:xfrm>
          <a:prstGeom prst="rect">
            <a:avLst/>
          </a:prstGeom>
          <a:noFill/>
          <a:ln w="0">
            <a:noFill/>
          </a:ln>
        </p:spPr>
      </p:pic>
      <p:pic>
        <p:nvPicPr>
          <p:cNvPr id="145" name="Image 2" descr="https://kimi-img.moonshot.cn/pub/slides/slides_tmpl/image/25-08-27-19:57:52-d2nf5g18bjvh7rlivt9g.png"/>
          <p:cNvPicPr/>
          <p:nvPr/>
        </p:nvPicPr>
        <p:blipFill>
          <a:blip r:embed="rId3"/>
          <a:stretch/>
        </p:blipFill>
        <p:spPr>
          <a:xfrm>
            <a:off x="9546480" y="2077200"/>
            <a:ext cx="920520" cy="3348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Shape 0"/>
          <p:cNvSpPr/>
          <p:nvPr/>
        </p:nvSpPr>
        <p:spPr>
          <a:xfrm>
            <a:off x="8294400" y="0"/>
            <a:ext cx="3897360" cy="132372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147" name="Text 1"/>
          <p:cNvSpPr/>
          <p:nvPr/>
        </p:nvSpPr>
        <p:spPr>
          <a:xfrm>
            <a:off x="8294400" y="0"/>
            <a:ext cx="3897360" cy="132372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48" name="Shape 2"/>
          <p:cNvSpPr/>
          <p:nvPr/>
        </p:nvSpPr>
        <p:spPr>
          <a:xfrm>
            <a:off x="-9360" y="-18360"/>
            <a:ext cx="8302320" cy="6876720"/>
          </a:xfrm>
          <a:prstGeom prst="rect">
            <a:avLst/>
          </a:prstGeom>
          <a:solidFill>
            <a:srgbClr val="ffffff"/>
          </a:solidFill>
          <a:ln w="19050">
            <a:solidFill>
              <a:srgbClr val="000000"/>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49" name="Text 3"/>
          <p:cNvSpPr/>
          <p:nvPr/>
        </p:nvSpPr>
        <p:spPr>
          <a:xfrm>
            <a:off x="-9360" y="-18360"/>
            <a:ext cx="8302320" cy="687672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50" name="Text 4"/>
          <p:cNvSpPr/>
          <p:nvPr/>
        </p:nvSpPr>
        <p:spPr>
          <a:xfrm>
            <a:off x="360000" y="258480"/>
            <a:ext cx="7560000" cy="70560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1" lang="en-US" sz="3600" strike="noStrike" u="none">
                <a:solidFill>
                  <a:srgbClr val="000000"/>
                </a:solidFill>
                <a:effectLst/>
                <a:uFillTx/>
                <a:latin typeface="MiSans"/>
                <a:ea typeface="MiSans"/>
              </a:rPr>
              <a:t>Trakia Zone: Location Edge</a:t>
            </a:r>
            <a:endParaRPr b="0" lang="bg-BG" sz="3600" strike="noStrike" u="none">
              <a:solidFill>
                <a:srgbClr val="000000"/>
              </a:solidFill>
              <a:effectLst/>
              <a:uFillTx/>
              <a:latin typeface="Arial"/>
            </a:endParaRPr>
          </a:p>
        </p:txBody>
      </p:sp>
      <p:sp>
        <p:nvSpPr>
          <p:cNvPr id="151" name="Shape 5"/>
          <p:cNvSpPr/>
          <p:nvPr/>
        </p:nvSpPr>
        <p:spPr>
          <a:xfrm>
            <a:off x="-9360" y="1984320"/>
            <a:ext cx="1011960" cy="24408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152" name="Text 6"/>
          <p:cNvSpPr/>
          <p:nvPr/>
        </p:nvSpPr>
        <p:spPr>
          <a:xfrm>
            <a:off x="-9360" y="1984320"/>
            <a:ext cx="1011960" cy="2440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53" name="Shape 7"/>
          <p:cNvSpPr/>
          <p:nvPr/>
        </p:nvSpPr>
        <p:spPr>
          <a:xfrm>
            <a:off x="7256880" y="1984320"/>
            <a:ext cx="1037160" cy="24408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154" name="Text 8"/>
          <p:cNvSpPr/>
          <p:nvPr/>
        </p:nvSpPr>
        <p:spPr>
          <a:xfrm>
            <a:off x="7256880" y="1984320"/>
            <a:ext cx="1037160" cy="2440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55" name="Shape 9"/>
          <p:cNvSpPr/>
          <p:nvPr/>
        </p:nvSpPr>
        <p:spPr>
          <a:xfrm>
            <a:off x="7256880" y="4408920"/>
            <a:ext cx="1037160" cy="24408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156" name="Text 10"/>
          <p:cNvSpPr/>
          <p:nvPr/>
        </p:nvSpPr>
        <p:spPr>
          <a:xfrm>
            <a:off x="7256880" y="4408920"/>
            <a:ext cx="1037160" cy="2440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57" name="Shape 11"/>
          <p:cNvSpPr/>
          <p:nvPr/>
        </p:nvSpPr>
        <p:spPr>
          <a:xfrm>
            <a:off x="-9360" y="4441320"/>
            <a:ext cx="1011960" cy="24408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158" name="Text 12"/>
          <p:cNvSpPr/>
          <p:nvPr/>
        </p:nvSpPr>
        <p:spPr>
          <a:xfrm>
            <a:off x="-9360" y="4441320"/>
            <a:ext cx="1011960" cy="2440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59" name="Shape 13"/>
          <p:cNvSpPr/>
          <p:nvPr/>
        </p:nvSpPr>
        <p:spPr>
          <a:xfrm>
            <a:off x="3981600" y="4002480"/>
            <a:ext cx="259200" cy="259200"/>
          </a:xfrm>
          <a:prstGeom prst="mathPlus">
            <a:avLst>
              <a:gd name="adj1" fmla="val 0"/>
            </a:avLst>
          </a:prstGeom>
          <a:solidFill>
            <a:srgbClr val="ffffff"/>
          </a:solidFill>
          <a:ln w="19050">
            <a:solidFill>
              <a:srgbClr val="404040"/>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60" name="Text 14"/>
          <p:cNvSpPr/>
          <p:nvPr/>
        </p:nvSpPr>
        <p:spPr>
          <a:xfrm>
            <a:off x="3981600" y="4002480"/>
            <a:ext cx="259200" cy="2592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61" name="Shape 15"/>
          <p:cNvSpPr/>
          <p:nvPr/>
        </p:nvSpPr>
        <p:spPr>
          <a:xfrm>
            <a:off x="12127320" y="-23400"/>
            <a:ext cx="75960" cy="6881040"/>
          </a:xfrm>
          <a:prstGeom prst="rect">
            <a:avLst/>
          </a:prstGeom>
          <a:gradFill rotWithShape="0">
            <a:gsLst>
              <a:gs pos="0">
                <a:srgbClr val="000000"/>
              </a:gs>
              <a:gs pos="95000">
                <a:srgbClr val="262626"/>
              </a:gs>
              <a:gs pos="100000">
                <a:srgbClr val="262626"/>
              </a:gs>
            </a:gsLst>
            <a:lin ang="168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62" name="Text 16"/>
          <p:cNvSpPr/>
          <p:nvPr/>
        </p:nvSpPr>
        <p:spPr>
          <a:xfrm>
            <a:off x="12127320" y="-23400"/>
            <a:ext cx="75960" cy="6881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63" name="Shape 17"/>
          <p:cNvSpPr/>
          <p:nvPr/>
        </p:nvSpPr>
        <p:spPr>
          <a:xfrm rot="5400000">
            <a:off x="4109400" y="-2862000"/>
            <a:ext cx="75960" cy="8294040"/>
          </a:xfrm>
          <a:prstGeom prst="rect">
            <a:avLst/>
          </a:prstGeom>
          <a:gradFill rotWithShape="0">
            <a:gsLst>
              <a:gs pos="0">
                <a:srgbClr val="000000"/>
              </a:gs>
              <a:gs pos="95000">
                <a:srgbClr val="262626"/>
              </a:gs>
              <a:gs pos="100000">
                <a:srgbClr val="262626"/>
              </a:gs>
            </a:gsLst>
            <a:lin ang="6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64" name="Text 18"/>
          <p:cNvSpPr/>
          <p:nvPr/>
        </p:nvSpPr>
        <p:spPr>
          <a:xfrm rot="5400000">
            <a:off x="4109400" y="-2862000"/>
            <a:ext cx="75960" cy="8294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65" name="Shape 19"/>
          <p:cNvSpPr/>
          <p:nvPr/>
        </p:nvSpPr>
        <p:spPr>
          <a:xfrm rot="5400000">
            <a:off x="6063840" y="738360"/>
            <a:ext cx="75960" cy="12174480"/>
          </a:xfrm>
          <a:prstGeom prst="rect">
            <a:avLst/>
          </a:prstGeom>
          <a:gradFill rotWithShape="0">
            <a:gsLst>
              <a:gs pos="0">
                <a:srgbClr val="000000"/>
              </a:gs>
              <a:gs pos="95000">
                <a:srgbClr val="262626"/>
              </a:gs>
              <a:gs pos="100000">
                <a:srgbClr val="262626"/>
              </a:gs>
            </a:gsLst>
            <a:lin ang="6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66" name="Text 20"/>
          <p:cNvSpPr/>
          <p:nvPr/>
        </p:nvSpPr>
        <p:spPr>
          <a:xfrm rot="5400000">
            <a:off x="6063840" y="738360"/>
            <a:ext cx="75960" cy="121744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167" name="Image 0" descr="https://kimi-img.moonshot.cn/pub/slides/slides_tmpl/image/25-08-27-19:57:59-d2nf5hp8bjvh7rlivu70.png"/>
          <p:cNvPicPr/>
          <p:nvPr/>
        </p:nvPicPr>
        <p:blipFill>
          <a:blip r:embed="rId1"/>
          <a:stretch/>
        </p:blipFill>
        <p:spPr>
          <a:xfrm>
            <a:off x="8543880" y="1514520"/>
            <a:ext cx="3333960" cy="5083560"/>
          </a:xfrm>
          <a:prstGeom prst="rect">
            <a:avLst/>
          </a:prstGeom>
          <a:noFill/>
          <a:ln w="0">
            <a:noFill/>
          </a:ln>
        </p:spPr>
      </p:pic>
      <p:sp>
        <p:nvSpPr>
          <p:cNvPr id="168" name="Text 21"/>
          <p:cNvSpPr/>
          <p:nvPr/>
        </p:nvSpPr>
        <p:spPr>
          <a:xfrm>
            <a:off x="1598760" y="1818720"/>
            <a:ext cx="2342160" cy="571320"/>
          </a:xfrm>
          <a:prstGeom prst="rect">
            <a:avLst/>
          </a:prstGeom>
          <a:noFill/>
          <a:ln w="0">
            <a:noFill/>
          </a:ln>
        </p:spPr>
        <p:style>
          <a:lnRef idx="0"/>
          <a:fillRef idx="0"/>
          <a:effectRef idx="0"/>
          <a:fontRef idx="minor"/>
        </p:style>
        <p:txBody>
          <a:bodyPr anchor="ctr">
            <a:noAutofit/>
          </a:bodyPr>
          <a:p>
            <a:pPr algn="r">
              <a:lnSpc>
                <a:spcPct val="120000"/>
              </a:lnSpc>
              <a:tabLst>
                <a:tab algn="l" pos="0"/>
              </a:tabLst>
            </a:pPr>
            <a:r>
              <a:rPr b="1" lang="en-US" sz="1800" strike="noStrike" u="none">
                <a:solidFill>
                  <a:srgbClr val="000000"/>
                </a:solidFill>
                <a:effectLst/>
                <a:uFillTx/>
                <a:latin typeface="MiSans"/>
                <a:ea typeface="MiSans"/>
              </a:rPr>
              <a:t>Strategic Location</a:t>
            </a:r>
            <a:endParaRPr b="0" lang="bg-BG" sz="1800" strike="noStrike" u="none">
              <a:solidFill>
                <a:srgbClr val="000000"/>
              </a:solidFill>
              <a:effectLst/>
              <a:uFillTx/>
              <a:latin typeface="Arial"/>
            </a:endParaRPr>
          </a:p>
        </p:txBody>
      </p:sp>
      <p:sp>
        <p:nvSpPr>
          <p:cNvPr id="169" name="Text 22"/>
          <p:cNvSpPr/>
          <p:nvPr/>
        </p:nvSpPr>
        <p:spPr>
          <a:xfrm>
            <a:off x="649440" y="2360880"/>
            <a:ext cx="3331440" cy="112500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The </a:t>
            </a:r>
            <a:r>
              <a:rPr b="1" lang="en-US" sz="1400" strike="noStrike" u="none">
                <a:solidFill>
                  <a:srgbClr val="000000"/>
                </a:solidFill>
                <a:effectLst/>
                <a:uFillTx/>
                <a:latin typeface="MiSans"/>
                <a:ea typeface="MiSans"/>
              </a:rPr>
              <a:t>Trakia Economic Zone</a:t>
            </a:r>
            <a:r>
              <a:rPr b="0" lang="en-US" sz="1400" strike="noStrike" u="none">
                <a:solidFill>
                  <a:srgbClr val="000000"/>
                </a:solidFill>
                <a:effectLst/>
                <a:uFillTx/>
                <a:latin typeface="MiSans"/>
                <a:ea typeface="MiSans"/>
              </a:rPr>
              <a:t> offers 500 hectares of expansion land, ideal for the development of a large-scale semiconductor fab.</a:t>
            </a:r>
            <a:endParaRPr b="0" lang="bg-BG" sz="1400" strike="noStrike" u="none">
              <a:solidFill>
                <a:srgbClr val="000000"/>
              </a:solidFill>
              <a:effectLst/>
              <a:uFillTx/>
              <a:latin typeface="Arial"/>
            </a:endParaRPr>
          </a:p>
        </p:txBody>
      </p:sp>
      <p:sp>
        <p:nvSpPr>
          <p:cNvPr id="170" name="Text 23"/>
          <p:cNvSpPr/>
          <p:nvPr/>
        </p:nvSpPr>
        <p:spPr>
          <a:xfrm>
            <a:off x="4428000" y="1818720"/>
            <a:ext cx="2342160" cy="57132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Infrastructure</a:t>
            </a:r>
            <a:endParaRPr b="0" lang="bg-BG" sz="1800" strike="noStrike" u="none">
              <a:solidFill>
                <a:srgbClr val="000000"/>
              </a:solidFill>
              <a:effectLst/>
              <a:uFillTx/>
              <a:latin typeface="Arial"/>
            </a:endParaRPr>
          </a:p>
        </p:txBody>
      </p:sp>
      <p:sp>
        <p:nvSpPr>
          <p:cNvPr id="171" name="Text 24"/>
          <p:cNvSpPr/>
          <p:nvPr/>
        </p:nvSpPr>
        <p:spPr>
          <a:xfrm>
            <a:off x="4430520" y="2360880"/>
            <a:ext cx="3331440" cy="112500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The zone features dual 110kV power feeds, a 50km gas loop, and direct access to the Trakia highway, ensuring reliable utilities and logistics.</a:t>
            </a:r>
            <a:endParaRPr b="0" lang="bg-BG" sz="1400" strike="noStrike" u="none">
              <a:solidFill>
                <a:srgbClr val="000000"/>
              </a:solidFill>
              <a:effectLst/>
              <a:uFillTx/>
              <a:latin typeface="Arial"/>
            </a:endParaRPr>
          </a:p>
        </p:txBody>
      </p:sp>
      <p:sp>
        <p:nvSpPr>
          <p:cNvPr id="172" name="Text 25"/>
          <p:cNvSpPr/>
          <p:nvPr/>
        </p:nvSpPr>
        <p:spPr>
          <a:xfrm>
            <a:off x="1598760" y="4275360"/>
            <a:ext cx="2342160" cy="571320"/>
          </a:xfrm>
          <a:prstGeom prst="rect">
            <a:avLst/>
          </a:prstGeom>
          <a:noFill/>
          <a:ln w="0">
            <a:noFill/>
          </a:ln>
        </p:spPr>
        <p:style>
          <a:lnRef idx="0"/>
          <a:fillRef idx="0"/>
          <a:effectRef idx="0"/>
          <a:fontRef idx="minor"/>
        </p:style>
        <p:txBody>
          <a:bodyPr anchor="ctr">
            <a:noAutofit/>
          </a:bodyPr>
          <a:p>
            <a:pPr algn="r">
              <a:lnSpc>
                <a:spcPct val="120000"/>
              </a:lnSpc>
              <a:tabLst>
                <a:tab algn="l" pos="0"/>
              </a:tabLst>
            </a:pPr>
            <a:r>
              <a:rPr b="1" lang="en-US" sz="1800" strike="noStrike" u="none">
                <a:solidFill>
                  <a:srgbClr val="000000"/>
                </a:solidFill>
                <a:effectLst/>
                <a:uFillTx/>
                <a:latin typeface="MiSans"/>
                <a:ea typeface="MiSans"/>
              </a:rPr>
              <a:t>Proximity to Plovdiv</a:t>
            </a:r>
            <a:endParaRPr b="0" lang="bg-BG" sz="1800" strike="noStrike" u="none">
              <a:solidFill>
                <a:srgbClr val="000000"/>
              </a:solidFill>
              <a:effectLst/>
              <a:uFillTx/>
              <a:latin typeface="Arial"/>
            </a:endParaRPr>
          </a:p>
        </p:txBody>
      </p:sp>
      <p:sp>
        <p:nvSpPr>
          <p:cNvPr id="173" name="Text 26"/>
          <p:cNvSpPr/>
          <p:nvPr/>
        </p:nvSpPr>
        <p:spPr>
          <a:xfrm>
            <a:off x="649440" y="4799160"/>
            <a:ext cx="3502080" cy="168804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1400" strike="noStrike" u="none">
                <a:solidFill>
                  <a:srgbClr val="000000"/>
                </a:solidFill>
                <a:effectLst/>
                <a:uFillTx/>
                <a:latin typeface="MiSans"/>
                <a:ea typeface="MiSans"/>
              </a:rPr>
              <a:t>Located just 15km from Plovdiv airport, the site benefits from excellent connectivity and access to a skilled workforce from the University of Plovdiv and the Technical University of Sofia.</a:t>
            </a:r>
            <a:endParaRPr b="0" lang="bg-BG" sz="1400" strike="noStrike" u="none">
              <a:solidFill>
                <a:srgbClr val="000000"/>
              </a:solidFill>
              <a:effectLst/>
              <a:uFillTx/>
              <a:latin typeface="Arial"/>
            </a:endParaRPr>
          </a:p>
        </p:txBody>
      </p:sp>
      <p:sp>
        <p:nvSpPr>
          <p:cNvPr id="174" name="Text 27"/>
          <p:cNvSpPr/>
          <p:nvPr/>
        </p:nvSpPr>
        <p:spPr>
          <a:xfrm>
            <a:off x="4428000" y="4242960"/>
            <a:ext cx="2342160" cy="57132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Existing Industry Clusters</a:t>
            </a:r>
            <a:endParaRPr b="0" lang="bg-BG" sz="1800" strike="noStrike" u="none">
              <a:solidFill>
                <a:srgbClr val="000000"/>
              </a:solidFill>
              <a:effectLst/>
              <a:uFillTx/>
              <a:latin typeface="Arial"/>
            </a:endParaRPr>
          </a:p>
        </p:txBody>
      </p:sp>
      <p:sp>
        <p:nvSpPr>
          <p:cNvPr id="175" name="Text 28"/>
          <p:cNvSpPr/>
          <p:nvPr/>
        </p:nvSpPr>
        <p:spPr>
          <a:xfrm>
            <a:off x="4443120" y="4766400"/>
            <a:ext cx="3331440" cy="140652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The presence of companies like Liebherr, Osram, and Sensata in the zone guarantees a pool of 3,000 trained technicians within a 30km radius.</a:t>
            </a:r>
            <a:endParaRPr b="0" lang="bg-BG"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6" name="Shape 0"/>
          <p:cNvSpPr/>
          <p:nvPr/>
        </p:nvSpPr>
        <p:spPr>
          <a:xfrm>
            <a:off x="-14760" y="-23040"/>
            <a:ext cx="12195360" cy="6880680"/>
          </a:xfrm>
          <a:prstGeom prst="rect">
            <a:avLst/>
          </a:prstGeom>
          <a:gradFill rotWithShape="0">
            <a:gsLst>
              <a:gs pos="0">
                <a:srgbClr val="000000"/>
              </a:gs>
              <a:gs pos="100000">
                <a:srgbClr val="000000"/>
              </a:gs>
            </a:gsLst>
            <a:lin ang="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77" name="Text 1"/>
          <p:cNvSpPr/>
          <p:nvPr/>
        </p:nvSpPr>
        <p:spPr>
          <a:xfrm>
            <a:off x="-14760" y="-23040"/>
            <a:ext cx="12195360" cy="68806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78" name="Shape 2"/>
          <p:cNvSpPr/>
          <p:nvPr/>
        </p:nvSpPr>
        <p:spPr>
          <a:xfrm>
            <a:off x="-14760" y="-22320"/>
            <a:ext cx="12196800" cy="1623960"/>
          </a:xfrm>
          <a:prstGeom prst="rect">
            <a:avLst/>
          </a:prstGeom>
          <a:solidFill>
            <a:srgbClr val="ffffff"/>
          </a:solidFill>
          <a:ln w="19050">
            <a:solidFill>
              <a:srgbClr val="ffffff">
                <a:alpha val="24000"/>
              </a:srgbClr>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79" name="Text 3"/>
          <p:cNvSpPr/>
          <p:nvPr/>
        </p:nvSpPr>
        <p:spPr>
          <a:xfrm>
            <a:off x="-14760" y="-22320"/>
            <a:ext cx="12196800" cy="162396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80" name="Shape 4"/>
          <p:cNvSpPr/>
          <p:nvPr/>
        </p:nvSpPr>
        <p:spPr>
          <a:xfrm>
            <a:off x="4532760" y="1615320"/>
            <a:ext cx="7649640" cy="5241600"/>
          </a:xfrm>
          <a:prstGeom prst="rect">
            <a:avLst/>
          </a:prstGeom>
          <a:solidFill>
            <a:srgbClr val="ffffff"/>
          </a:solidFill>
          <a:ln w="19050">
            <a:solidFill>
              <a:srgbClr val="ffffff">
                <a:alpha val="24000"/>
              </a:srgbClr>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81" name="Text 5"/>
          <p:cNvSpPr/>
          <p:nvPr/>
        </p:nvSpPr>
        <p:spPr>
          <a:xfrm>
            <a:off x="4532760" y="1615320"/>
            <a:ext cx="7649640" cy="52416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82" name="Text 6"/>
          <p:cNvSpPr/>
          <p:nvPr/>
        </p:nvSpPr>
        <p:spPr>
          <a:xfrm>
            <a:off x="552600" y="394920"/>
            <a:ext cx="8476200" cy="66060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3200" strike="noStrike" u="none">
                <a:solidFill>
                  <a:srgbClr val="000000"/>
                </a:solidFill>
                <a:effectLst/>
                <a:uFillTx/>
                <a:latin typeface="MiSans"/>
                <a:ea typeface="MiSans"/>
              </a:rPr>
              <a:t>INZAIT &amp; Talent Pipeline</a:t>
            </a:r>
            <a:endParaRPr b="1" lang="bg-BG" sz="3200" strike="noStrike" u="none">
              <a:solidFill>
                <a:srgbClr val="000000"/>
              </a:solidFill>
              <a:effectLst/>
              <a:uFillTx/>
              <a:latin typeface="Arial"/>
            </a:endParaRPr>
          </a:p>
        </p:txBody>
      </p:sp>
      <p:sp>
        <p:nvSpPr>
          <p:cNvPr id="183" name="Shape 7"/>
          <p:cNvSpPr/>
          <p:nvPr/>
        </p:nvSpPr>
        <p:spPr>
          <a:xfrm>
            <a:off x="-14760" y="1386360"/>
            <a:ext cx="12206880" cy="21672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184" name="Text 8"/>
          <p:cNvSpPr/>
          <p:nvPr/>
        </p:nvSpPr>
        <p:spPr>
          <a:xfrm>
            <a:off x="-14760" y="1386360"/>
            <a:ext cx="12206880" cy="21672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85" name="Shape 9"/>
          <p:cNvSpPr/>
          <p:nvPr/>
        </p:nvSpPr>
        <p:spPr>
          <a:xfrm>
            <a:off x="11025360" y="1433880"/>
            <a:ext cx="98280" cy="97920"/>
          </a:xfrm>
          <a:prstGeom prst="ellipse">
            <a:avLst/>
          </a:prstGeom>
          <a:solidFill>
            <a:srgbClr val="ffffff"/>
          </a:solidFill>
          <a:ln w="0">
            <a:noFill/>
          </a:ln>
        </p:spPr>
        <p:style>
          <a:lnRef idx="0"/>
          <a:fillRef idx="0"/>
          <a:effectRef idx="0"/>
          <a:fontRef idx="minor"/>
        </p:style>
        <p:txBody>
          <a:bodyPr lIns="90000" rIns="90000" tIns="24840" bIns="24840" anchor="t">
            <a:noAutofit/>
          </a:bodyPr>
          <a:p>
            <a:endParaRPr b="0" lang="bg-BG" sz="1800" strike="noStrike" u="none">
              <a:solidFill>
                <a:srgbClr val="000000"/>
              </a:solidFill>
              <a:effectLst/>
              <a:uFillTx/>
              <a:latin typeface="Arial"/>
            </a:endParaRPr>
          </a:p>
        </p:txBody>
      </p:sp>
      <p:sp>
        <p:nvSpPr>
          <p:cNvPr id="186" name="Text 10"/>
          <p:cNvSpPr/>
          <p:nvPr/>
        </p:nvSpPr>
        <p:spPr>
          <a:xfrm>
            <a:off x="11025360" y="1433880"/>
            <a:ext cx="98280" cy="97920"/>
          </a:xfrm>
          <a:prstGeom prst="rect">
            <a:avLst/>
          </a:prstGeom>
          <a:noFill/>
          <a:ln w="0">
            <a:noFill/>
          </a:ln>
        </p:spPr>
        <p:style>
          <a:lnRef idx="0"/>
          <a:fillRef idx="0"/>
          <a:effectRef idx="0"/>
          <a:fontRef idx="minor"/>
        </p:style>
        <p:txBody>
          <a:bodyPr lIns="45720" tIns="72000" bIns="2628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87" name="Shape 11"/>
          <p:cNvSpPr/>
          <p:nvPr/>
        </p:nvSpPr>
        <p:spPr>
          <a:xfrm>
            <a:off x="11184480" y="1433880"/>
            <a:ext cx="98280" cy="97920"/>
          </a:xfrm>
          <a:prstGeom prst="ellipse">
            <a:avLst/>
          </a:prstGeom>
          <a:solidFill>
            <a:srgbClr val="ffffff"/>
          </a:solidFill>
          <a:ln w="0">
            <a:noFill/>
          </a:ln>
        </p:spPr>
        <p:style>
          <a:lnRef idx="0"/>
          <a:fillRef idx="0"/>
          <a:effectRef idx="0"/>
          <a:fontRef idx="minor"/>
        </p:style>
        <p:txBody>
          <a:bodyPr lIns="90000" rIns="90000" tIns="24840" bIns="24840" anchor="t">
            <a:noAutofit/>
          </a:bodyPr>
          <a:p>
            <a:endParaRPr b="0" lang="bg-BG" sz="1800" strike="noStrike" u="none">
              <a:solidFill>
                <a:srgbClr val="000000"/>
              </a:solidFill>
              <a:effectLst/>
              <a:uFillTx/>
              <a:latin typeface="Arial"/>
            </a:endParaRPr>
          </a:p>
        </p:txBody>
      </p:sp>
      <p:sp>
        <p:nvSpPr>
          <p:cNvPr id="188" name="Text 12"/>
          <p:cNvSpPr/>
          <p:nvPr/>
        </p:nvSpPr>
        <p:spPr>
          <a:xfrm>
            <a:off x="11184480" y="1433880"/>
            <a:ext cx="98280" cy="97920"/>
          </a:xfrm>
          <a:prstGeom prst="rect">
            <a:avLst/>
          </a:prstGeom>
          <a:noFill/>
          <a:ln w="0">
            <a:noFill/>
          </a:ln>
        </p:spPr>
        <p:style>
          <a:lnRef idx="0"/>
          <a:fillRef idx="0"/>
          <a:effectRef idx="0"/>
          <a:fontRef idx="minor"/>
        </p:style>
        <p:txBody>
          <a:bodyPr lIns="45720" tIns="72000" bIns="2628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189" name="Shape 13"/>
          <p:cNvSpPr/>
          <p:nvPr/>
        </p:nvSpPr>
        <p:spPr>
          <a:xfrm>
            <a:off x="11343240" y="1433880"/>
            <a:ext cx="98280" cy="97920"/>
          </a:xfrm>
          <a:prstGeom prst="ellipse">
            <a:avLst/>
          </a:prstGeom>
          <a:solidFill>
            <a:srgbClr val="ffffff"/>
          </a:solidFill>
          <a:ln w="0">
            <a:noFill/>
          </a:ln>
        </p:spPr>
        <p:style>
          <a:lnRef idx="0"/>
          <a:fillRef idx="0"/>
          <a:effectRef idx="0"/>
          <a:fontRef idx="minor"/>
        </p:style>
        <p:txBody>
          <a:bodyPr lIns="90000" rIns="90000" tIns="24840" bIns="24840" anchor="t">
            <a:noAutofit/>
          </a:bodyPr>
          <a:p>
            <a:endParaRPr b="0" lang="bg-BG" sz="1800" strike="noStrike" u="none">
              <a:solidFill>
                <a:srgbClr val="000000"/>
              </a:solidFill>
              <a:effectLst/>
              <a:uFillTx/>
              <a:latin typeface="Arial"/>
            </a:endParaRPr>
          </a:p>
        </p:txBody>
      </p:sp>
      <p:sp>
        <p:nvSpPr>
          <p:cNvPr id="190" name="Text 14"/>
          <p:cNvSpPr/>
          <p:nvPr/>
        </p:nvSpPr>
        <p:spPr>
          <a:xfrm>
            <a:off x="11343240" y="1433880"/>
            <a:ext cx="98280" cy="97920"/>
          </a:xfrm>
          <a:prstGeom prst="rect">
            <a:avLst/>
          </a:prstGeom>
          <a:noFill/>
          <a:ln w="0">
            <a:noFill/>
          </a:ln>
        </p:spPr>
        <p:style>
          <a:lnRef idx="0"/>
          <a:fillRef idx="0"/>
          <a:effectRef idx="0"/>
          <a:fontRef idx="minor"/>
        </p:style>
        <p:txBody>
          <a:bodyPr lIns="45720" tIns="72000" bIns="2628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191" name="Image 0" descr="https://kimi-img.moonshot.cn/pub/slides/slides_tmpl/image/25-08-27-19:57:55-d2nf5gp8bjvh7rlivth0.png"/>
          <p:cNvPicPr/>
          <p:nvPr/>
        </p:nvPicPr>
        <p:blipFill>
          <a:blip r:embed="rId1"/>
          <a:stretch/>
        </p:blipFill>
        <p:spPr>
          <a:xfrm>
            <a:off x="-14760" y="1602000"/>
            <a:ext cx="4547520" cy="5010480"/>
          </a:xfrm>
          <a:prstGeom prst="rect">
            <a:avLst/>
          </a:prstGeom>
          <a:noFill/>
          <a:ln w="0">
            <a:noFill/>
          </a:ln>
        </p:spPr>
      </p:pic>
      <p:pic>
        <p:nvPicPr>
          <p:cNvPr id="192" name="Image 1" descr="https://kimi-img.moonshot.cn/pub/slides/slides_tmpl/image/25-08-27-19:57:55-d2nf5gp8bjvh7rlivtf0.png"/>
          <p:cNvPicPr/>
          <p:nvPr/>
        </p:nvPicPr>
        <p:blipFill>
          <a:blip r:embed="rId2"/>
          <a:srcRect l="0" t="11375" r="0" b="0"/>
          <a:stretch/>
        </p:blipFill>
        <p:spPr>
          <a:xfrm>
            <a:off x="4658400" y="2928600"/>
            <a:ext cx="1425960" cy="3111840"/>
          </a:xfrm>
          <a:prstGeom prst="rect">
            <a:avLst/>
          </a:prstGeom>
          <a:noFill/>
          <a:ln w="0">
            <a:noFill/>
          </a:ln>
        </p:spPr>
      </p:pic>
      <p:pic>
        <p:nvPicPr>
          <p:cNvPr id="193" name="Image 2" descr="https://kimi-img.moonshot.cn/pub/slides/slides_tmpl/image/25-08-27-19:57:55-d2nf5gp8bjvh7rlivtg0.png"/>
          <p:cNvPicPr/>
          <p:nvPr/>
        </p:nvPicPr>
        <p:blipFill>
          <a:blip r:embed="rId3"/>
          <a:srcRect l="0" t="11376" r="0" b="0"/>
          <a:stretch/>
        </p:blipFill>
        <p:spPr>
          <a:xfrm>
            <a:off x="8202240" y="2928600"/>
            <a:ext cx="1462680" cy="3111840"/>
          </a:xfrm>
          <a:prstGeom prst="rect">
            <a:avLst/>
          </a:prstGeom>
          <a:noFill/>
          <a:ln w="0">
            <a:noFill/>
          </a:ln>
        </p:spPr>
      </p:pic>
      <p:sp>
        <p:nvSpPr>
          <p:cNvPr id="194" name="Text 15"/>
          <p:cNvSpPr/>
          <p:nvPr/>
        </p:nvSpPr>
        <p:spPr>
          <a:xfrm>
            <a:off x="5463720" y="2771640"/>
            <a:ext cx="2205000" cy="70200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INZAIT Partnership</a:t>
            </a:r>
            <a:endParaRPr b="0" lang="bg-BG" sz="1800" strike="noStrike" u="none">
              <a:solidFill>
                <a:srgbClr val="000000"/>
              </a:solidFill>
              <a:effectLst/>
              <a:uFillTx/>
              <a:latin typeface="Arial"/>
            </a:endParaRPr>
          </a:p>
        </p:txBody>
      </p:sp>
      <p:sp>
        <p:nvSpPr>
          <p:cNvPr id="195" name="Text 16"/>
          <p:cNvSpPr/>
          <p:nvPr/>
        </p:nvSpPr>
        <p:spPr>
          <a:xfrm>
            <a:off x="5463720" y="3544560"/>
            <a:ext cx="2850120" cy="245124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1400" strike="noStrike" u="none">
                <a:solidFill>
                  <a:srgbClr val="000000"/>
                </a:solidFill>
                <a:effectLst/>
                <a:uFillTx/>
                <a:latin typeface="MiSans"/>
                <a:ea typeface="MiSans"/>
              </a:rPr>
              <a:t>INZAIT will co-create a design-technology and activate their lobby for attracting capital, co-optimization lab onsite, AI Tera Factory for layout and physical verification, providing access to advanced research and development capabilities.</a:t>
            </a:r>
            <a:endParaRPr b="0" lang="bg-BG" sz="1400" strike="noStrike" u="none">
              <a:solidFill>
                <a:srgbClr val="000000"/>
              </a:solidFill>
              <a:effectLst/>
              <a:uFillTx/>
              <a:latin typeface="Arial"/>
            </a:endParaRPr>
          </a:p>
        </p:txBody>
      </p:sp>
      <p:sp>
        <p:nvSpPr>
          <p:cNvPr id="196" name="Text 17"/>
          <p:cNvSpPr/>
          <p:nvPr/>
        </p:nvSpPr>
        <p:spPr>
          <a:xfrm>
            <a:off x="9055800" y="2771640"/>
            <a:ext cx="2205000" cy="70200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Talent Development</a:t>
            </a:r>
            <a:endParaRPr b="0" lang="bg-BG" sz="1800" strike="noStrike" u="none">
              <a:solidFill>
                <a:srgbClr val="000000"/>
              </a:solidFill>
              <a:effectLst/>
              <a:uFillTx/>
              <a:latin typeface="Arial"/>
            </a:endParaRPr>
          </a:p>
        </p:txBody>
      </p:sp>
      <p:sp>
        <p:nvSpPr>
          <p:cNvPr id="197" name="Text 18"/>
          <p:cNvSpPr/>
          <p:nvPr/>
        </p:nvSpPr>
        <p:spPr>
          <a:xfrm>
            <a:off x="9055800" y="3544560"/>
            <a:ext cx="2850120" cy="245124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1400" strike="noStrike" u="none">
                <a:solidFill>
                  <a:srgbClr val="000000"/>
                </a:solidFill>
                <a:effectLst/>
                <a:uFillTx/>
                <a:latin typeface="MiSans"/>
                <a:ea typeface="MiSans"/>
              </a:rPr>
              <a:t>INZAIT, TU Sofia, Plovdiv, Varna and Burgas - all Greek tavernas are working for us - as well as our partners in India, Taiwan, Hong Kong and </a:t>
            </a:r>
            <a:r>
              <a:rPr b="0" lang="en-US" sz="1400" strike="noStrike" u="none">
                <a:solidFill>
                  <a:srgbClr val="000000"/>
                </a:solidFill>
                <a:effectLst/>
                <a:uFillTx/>
                <a:latin typeface="MiSans"/>
                <a:ea typeface="MiSans"/>
              </a:rPr>
              <a:t>Mainland China </a:t>
            </a:r>
            <a:r>
              <a:rPr b="0" lang="en-US" sz="1400" strike="noStrike" u="none">
                <a:solidFill>
                  <a:srgbClr val="000000"/>
                </a:solidFill>
                <a:effectLst/>
                <a:uFillTx/>
                <a:latin typeface="MiSans"/>
                <a:ea typeface="MiSans"/>
              </a:rPr>
              <a:t>will supply highly skilled PhDs for the fab’s R&amp;D efforts, ensuring a steady pipeline of highly skilled talent and EU funding.</a:t>
            </a:r>
            <a:endParaRPr b="0" lang="bg-BG"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8" name="Shape 0"/>
          <p:cNvSpPr/>
          <p:nvPr/>
        </p:nvSpPr>
        <p:spPr>
          <a:xfrm>
            <a:off x="0" y="-16560"/>
            <a:ext cx="12195360" cy="6880680"/>
          </a:xfrm>
          <a:prstGeom prst="rect">
            <a:avLst/>
          </a:prstGeom>
          <a:gradFill rotWithShape="0">
            <a:gsLst>
              <a:gs pos="0">
                <a:srgbClr val="f6f8fd"/>
              </a:gs>
              <a:gs pos="100000">
                <a:srgbClr val="bebebe"/>
              </a:gs>
            </a:gsLst>
            <a:lin ang="54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199" name="Text 1"/>
          <p:cNvSpPr/>
          <p:nvPr/>
        </p:nvSpPr>
        <p:spPr>
          <a:xfrm>
            <a:off x="0" y="-16560"/>
            <a:ext cx="12195360" cy="68806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200" name="Image 0" descr="https://kimi-img.moonshot.cn/pub/slides/slides_tmpl/image/25-08-27-19:57:52-d2nf5g18bjvh7rlivt90.png"/>
          <p:cNvPicPr/>
          <p:nvPr/>
        </p:nvPicPr>
        <p:blipFill>
          <a:blip r:embed="rId1"/>
          <a:srcRect l="20539" t="0" r="0" b="0"/>
          <a:stretch/>
        </p:blipFill>
        <p:spPr>
          <a:xfrm>
            <a:off x="1087200" y="-23400"/>
            <a:ext cx="3194280" cy="6857640"/>
          </a:xfrm>
          <a:prstGeom prst="rect">
            <a:avLst/>
          </a:prstGeom>
          <a:noFill/>
          <a:ln w="0">
            <a:noFill/>
          </a:ln>
        </p:spPr>
      </p:pic>
      <p:sp>
        <p:nvSpPr>
          <p:cNvPr id="201" name="Shape 2"/>
          <p:cNvSpPr/>
          <p:nvPr/>
        </p:nvSpPr>
        <p:spPr>
          <a:xfrm>
            <a:off x="5438880" y="-23400"/>
            <a:ext cx="6750360" cy="688104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202" name="Text 3"/>
          <p:cNvSpPr/>
          <p:nvPr/>
        </p:nvSpPr>
        <p:spPr>
          <a:xfrm>
            <a:off x="5438880" y="-23400"/>
            <a:ext cx="6750360" cy="6881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03" name="Text 4"/>
          <p:cNvSpPr/>
          <p:nvPr/>
        </p:nvSpPr>
        <p:spPr>
          <a:xfrm>
            <a:off x="6524640" y="4012560"/>
            <a:ext cx="4441320" cy="1381320"/>
          </a:xfrm>
          <a:prstGeom prst="rect">
            <a:avLst/>
          </a:prstGeom>
          <a:noFill/>
          <a:ln w="0">
            <a:noFill/>
          </a:ln>
        </p:spPr>
        <p:style>
          <a:lnRef idx="0"/>
          <a:fillRef idx="0"/>
          <a:effectRef idx="0"/>
          <a:fontRef idx="minor"/>
        </p:style>
        <p:txBody>
          <a:bodyPr anchor="t">
            <a:noAutofit/>
          </a:bodyPr>
          <a:p>
            <a:pPr algn="ctr">
              <a:lnSpc>
                <a:spcPct val="120000"/>
              </a:lnSpc>
              <a:tabLst>
                <a:tab algn="l" pos="0"/>
              </a:tabLst>
            </a:pPr>
            <a:r>
              <a:rPr b="0" lang="en-US" sz="3200" strike="noStrike" u="none">
                <a:solidFill>
                  <a:srgbClr val="ffffff"/>
                </a:solidFill>
                <a:effectLst/>
                <a:uFillTx/>
                <a:latin typeface="MiSans"/>
                <a:ea typeface="MiSans"/>
              </a:rPr>
              <a:t>Technology &amp; Fab</a:t>
            </a:r>
            <a:endParaRPr b="0" lang="bg-BG" sz="3200" strike="noStrike" u="none">
              <a:solidFill>
                <a:srgbClr val="000000"/>
              </a:solidFill>
              <a:effectLst/>
              <a:uFillTx/>
              <a:latin typeface="Arial"/>
            </a:endParaRPr>
          </a:p>
        </p:txBody>
      </p:sp>
      <p:sp>
        <p:nvSpPr>
          <p:cNvPr id="204" name="Text 5"/>
          <p:cNvSpPr/>
          <p:nvPr/>
        </p:nvSpPr>
        <p:spPr>
          <a:xfrm>
            <a:off x="7765560" y="1823040"/>
            <a:ext cx="1781280" cy="133056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9600" strike="noStrike" u="none">
                <a:solidFill>
                  <a:srgbClr val="ffffff"/>
                </a:solidFill>
                <a:effectLst/>
                <a:uFillTx/>
                <a:latin typeface="MiSans"/>
                <a:ea typeface="MiSans"/>
              </a:rPr>
              <a:t>04</a:t>
            </a:r>
            <a:endParaRPr b="0" lang="bg-BG" sz="9600" strike="noStrike" u="none">
              <a:solidFill>
                <a:srgbClr val="000000"/>
              </a:solidFill>
              <a:effectLst/>
              <a:uFillTx/>
              <a:latin typeface="Arial"/>
            </a:endParaRPr>
          </a:p>
        </p:txBody>
      </p:sp>
      <p:pic>
        <p:nvPicPr>
          <p:cNvPr id="205" name="Image 1" descr="https://kimi-img.moonshot.cn/pub/slides/slides_tmpl/image/25-08-27-19:57:52-d2nf5g18bjvh7rlivtag.png"/>
          <p:cNvPicPr/>
          <p:nvPr/>
        </p:nvPicPr>
        <p:blipFill>
          <a:blip r:embed="rId2"/>
          <a:stretch/>
        </p:blipFill>
        <p:spPr>
          <a:xfrm>
            <a:off x="1328400" y="2077200"/>
            <a:ext cx="2712240" cy="2669760"/>
          </a:xfrm>
          <a:prstGeom prst="rect">
            <a:avLst/>
          </a:prstGeom>
          <a:noFill/>
          <a:ln w="0">
            <a:noFill/>
          </a:ln>
        </p:spPr>
      </p:pic>
      <p:pic>
        <p:nvPicPr>
          <p:cNvPr id="206" name="Image 2" descr="https://kimi-img.moonshot.cn/pub/slides/slides_tmpl/image/25-08-27-19:57:52-d2nf5g18bjvh7rlivt9g.png"/>
          <p:cNvPicPr/>
          <p:nvPr/>
        </p:nvPicPr>
        <p:blipFill>
          <a:blip r:embed="rId3"/>
          <a:stretch/>
        </p:blipFill>
        <p:spPr>
          <a:xfrm>
            <a:off x="9546480" y="2077200"/>
            <a:ext cx="920520" cy="33480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7" name="Shape 0"/>
          <p:cNvSpPr/>
          <p:nvPr/>
        </p:nvSpPr>
        <p:spPr>
          <a:xfrm>
            <a:off x="1227600" y="2285280"/>
            <a:ext cx="10963440" cy="2284920"/>
          </a:xfrm>
          <a:prstGeom prst="rect">
            <a:avLst/>
          </a:prstGeom>
          <a:solidFill>
            <a:srgbClr val="f2f2f2"/>
          </a:soli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08" name="Text 1"/>
          <p:cNvSpPr/>
          <p:nvPr/>
        </p:nvSpPr>
        <p:spPr>
          <a:xfrm>
            <a:off x="1227600" y="2285280"/>
            <a:ext cx="10963440" cy="228492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09" name="Text 2"/>
          <p:cNvSpPr/>
          <p:nvPr/>
        </p:nvSpPr>
        <p:spPr>
          <a:xfrm>
            <a:off x="2671920" y="2782080"/>
            <a:ext cx="3422880" cy="12873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0" lang="en-US" sz="2400" strike="noStrike" u="none">
                <a:solidFill>
                  <a:srgbClr val="000000"/>
                </a:solidFill>
                <a:effectLst/>
                <a:uFillTx/>
                <a:latin typeface="MiSans"/>
                <a:ea typeface="MiSans"/>
              </a:rPr>
              <a:t>3nm Process Flow Blueprint</a:t>
            </a:r>
            <a:endParaRPr b="0" lang="bg-BG" sz="2400" strike="noStrike" u="none">
              <a:solidFill>
                <a:srgbClr val="000000"/>
              </a:solidFill>
              <a:effectLst/>
              <a:uFillTx/>
              <a:latin typeface="Arial"/>
            </a:endParaRPr>
          </a:p>
        </p:txBody>
      </p:sp>
      <p:sp>
        <p:nvSpPr>
          <p:cNvPr id="210" name="Shape 3"/>
          <p:cNvSpPr/>
          <p:nvPr/>
        </p:nvSpPr>
        <p:spPr>
          <a:xfrm>
            <a:off x="2460600" y="4573800"/>
            <a:ext cx="9763560" cy="3240"/>
          </a:xfrm>
          <a:prstGeom prst="line">
            <a:avLst/>
          </a:prstGeom>
          <a:ln w="19050">
            <a:solidFill>
              <a:srgbClr val="0d0d0d"/>
            </a:solidFill>
            <a:round/>
          </a:ln>
        </p:spPr>
        <p:style>
          <a:lnRef idx="0"/>
          <a:fillRef idx="0"/>
          <a:effectRef idx="0"/>
          <a:fontRef idx="minor"/>
        </p:style>
        <p:txBody>
          <a:bodyPr lIns="90000" rIns="90000" tIns="-41760" bIns="-41760" anchor="t" anchorCtr="1">
            <a:noAutofit/>
          </a:bodyPr>
          <a:p>
            <a:endParaRPr b="0" lang="bg-BG" sz="1800" strike="noStrike" u="none">
              <a:solidFill>
                <a:srgbClr val="000000"/>
              </a:solidFill>
              <a:effectLst/>
              <a:uFillTx/>
              <a:latin typeface="Arial"/>
            </a:endParaRPr>
          </a:p>
        </p:txBody>
      </p:sp>
      <p:sp>
        <p:nvSpPr>
          <p:cNvPr id="211" name="Shape 4"/>
          <p:cNvSpPr/>
          <p:nvPr/>
        </p:nvSpPr>
        <p:spPr>
          <a:xfrm>
            <a:off x="2467440" y="2296080"/>
            <a:ext cx="9768240" cy="3240"/>
          </a:xfrm>
          <a:prstGeom prst="line">
            <a:avLst/>
          </a:prstGeom>
          <a:ln w="19050">
            <a:solidFill>
              <a:srgbClr val="0d0d0d"/>
            </a:solidFill>
            <a:round/>
          </a:ln>
        </p:spPr>
        <p:style>
          <a:lnRef idx="0"/>
          <a:fillRef idx="0"/>
          <a:effectRef idx="0"/>
          <a:fontRef idx="minor"/>
        </p:style>
        <p:txBody>
          <a:bodyPr lIns="90000" rIns="90000" tIns="-41760" bIns="-41760" anchor="t" anchorCtr="1">
            <a:noAutofit/>
          </a:bodyPr>
          <a:p>
            <a:endParaRPr b="0" lang="bg-BG" sz="1800" strike="noStrike" u="none">
              <a:solidFill>
                <a:srgbClr val="000000"/>
              </a:solidFill>
              <a:effectLst/>
              <a:uFillTx/>
              <a:latin typeface="Arial"/>
            </a:endParaRPr>
          </a:p>
        </p:txBody>
      </p:sp>
      <p:pic>
        <p:nvPicPr>
          <p:cNvPr id="212" name="Image 0" descr="https://kimi-img.moonshot.cn/pub/slides/slides_tmpl/image/25-08-27-19:57:59-d2nf5hp8bjvh7rlivu10.png"/>
          <p:cNvPicPr/>
          <p:nvPr/>
        </p:nvPicPr>
        <p:blipFill>
          <a:blip r:embed="rId1"/>
          <a:stretch/>
        </p:blipFill>
        <p:spPr>
          <a:xfrm>
            <a:off x="-351000" y="-25920"/>
            <a:ext cx="2817720" cy="6908400"/>
          </a:xfrm>
          <a:prstGeom prst="rect">
            <a:avLst/>
          </a:prstGeom>
          <a:noFill/>
          <a:ln w="0">
            <a:noFill/>
          </a:ln>
        </p:spPr>
      </p:pic>
      <p:pic>
        <p:nvPicPr>
          <p:cNvPr id="213" name="Image 1" descr="https://kimi-img.moonshot.cn/pub/slides/slides_tmpl/image/25-08-27-19:57:58-d2nf5hh8bjvh7rlivtvg.png"/>
          <p:cNvPicPr/>
          <p:nvPr/>
        </p:nvPicPr>
        <p:blipFill>
          <a:blip r:embed="rId2"/>
          <a:stretch/>
        </p:blipFill>
        <p:spPr>
          <a:xfrm>
            <a:off x="9624600" y="4580280"/>
            <a:ext cx="2578320" cy="2292120"/>
          </a:xfrm>
          <a:prstGeom prst="rect">
            <a:avLst/>
          </a:prstGeom>
          <a:noFill/>
          <a:ln w="0">
            <a:noFill/>
          </a:ln>
        </p:spPr>
      </p:pic>
      <p:pic>
        <p:nvPicPr>
          <p:cNvPr id="214" name="Image 2" descr="https://kimi-img.moonshot.cn/pub/slides/slides_tmpl/image/25-08-27-19:57:58-d2nf5hh8bjvh7rlivtv0.jpg"/>
          <p:cNvPicPr/>
          <p:nvPr/>
        </p:nvPicPr>
        <p:blipFill>
          <a:blip r:embed="rId3"/>
          <a:stretch/>
        </p:blipFill>
        <p:spPr>
          <a:xfrm>
            <a:off x="170280" y="494640"/>
            <a:ext cx="977400" cy="2908080"/>
          </a:xfrm>
          <a:prstGeom prst="rect">
            <a:avLst/>
          </a:prstGeom>
          <a:noFill/>
          <a:ln w="0">
            <a:noFill/>
          </a:ln>
        </p:spPr>
      </p:pic>
      <p:sp>
        <p:nvSpPr>
          <p:cNvPr id="215" name="Text 5"/>
          <p:cNvSpPr/>
          <p:nvPr/>
        </p:nvSpPr>
        <p:spPr>
          <a:xfrm>
            <a:off x="3051000" y="494640"/>
            <a:ext cx="234792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Advanced Equipment</a:t>
            </a:r>
            <a:endParaRPr b="0" lang="bg-BG" sz="1800" strike="noStrike" u="none">
              <a:solidFill>
                <a:srgbClr val="000000"/>
              </a:solidFill>
              <a:effectLst/>
              <a:uFillTx/>
              <a:latin typeface="Arial"/>
            </a:endParaRPr>
          </a:p>
        </p:txBody>
      </p:sp>
      <p:sp>
        <p:nvSpPr>
          <p:cNvPr id="216" name="Text 6"/>
          <p:cNvSpPr/>
          <p:nvPr/>
        </p:nvSpPr>
        <p:spPr>
          <a:xfrm>
            <a:off x="3060000" y="1080000"/>
            <a:ext cx="5991480" cy="84384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Utilizing state-of-the-art equipment like ASML 0.33NA EUV scanners and Applied Materials selective epi, we will achieve 1.7× density improvement over 5nm nodes.</a:t>
            </a:r>
            <a:endParaRPr b="0" lang="bg-BG" sz="1400" strike="noStrike" u="none">
              <a:solidFill>
                <a:srgbClr val="000000"/>
              </a:solidFill>
              <a:effectLst/>
              <a:uFillTx/>
              <a:latin typeface="Arial"/>
            </a:endParaRPr>
          </a:p>
        </p:txBody>
      </p:sp>
      <p:sp>
        <p:nvSpPr>
          <p:cNvPr id="217" name="Text 7"/>
          <p:cNvSpPr/>
          <p:nvPr/>
        </p:nvSpPr>
        <p:spPr>
          <a:xfrm>
            <a:off x="6033240" y="2607480"/>
            <a:ext cx="234792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Process Optimization</a:t>
            </a:r>
            <a:endParaRPr b="0" lang="bg-BG" sz="1800" strike="noStrike" u="none">
              <a:solidFill>
                <a:srgbClr val="000000"/>
              </a:solidFill>
              <a:effectLst/>
              <a:uFillTx/>
              <a:latin typeface="Arial"/>
            </a:endParaRPr>
          </a:p>
        </p:txBody>
      </p:sp>
      <p:sp>
        <p:nvSpPr>
          <p:cNvPr id="218" name="Text 8"/>
          <p:cNvSpPr/>
          <p:nvPr/>
        </p:nvSpPr>
        <p:spPr>
          <a:xfrm>
            <a:off x="6030720" y="3080880"/>
            <a:ext cx="5522400" cy="85896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Our 21-mask 3nm SF3 flow will deliver 25% lower power consumption and 12% higher speed, with a target yield of 85% within 18 months.</a:t>
            </a:r>
            <a:endParaRPr b="0" lang="bg-BG" sz="1400" strike="noStrike" u="none">
              <a:solidFill>
                <a:srgbClr val="000000"/>
              </a:solidFill>
              <a:effectLst/>
              <a:uFillTx/>
              <a:latin typeface="Arial"/>
            </a:endParaRPr>
          </a:p>
        </p:txBody>
      </p:sp>
      <p:sp>
        <p:nvSpPr>
          <p:cNvPr id="219" name="Text 9"/>
          <p:cNvSpPr/>
          <p:nvPr/>
        </p:nvSpPr>
        <p:spPr>
          <a:xfrm>
            <a:off x="3053880" y="4970880"/>
            <a:ext cx="234792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Innovation</a:t>
            </a:r>
            <a:endParaRPr b="0" lang="bg-BG" sz="1800" strike="noStrike" u="none">
              <a:solidFill>
                <a:srgbClr val="000000"/>
              </a:solidFill>
              <a:effectLst/>
              <a:uFillTx/>
              <a:latin typeface="Arial"/>
            </a:endParaRPr>
          </a:p>
        </p:txBody>
      </p:sp>
      <p:sp>
        <p:nvSpPr>
          <p:cNvPr id="220" name="Text 10"/>
          <p:cNvSpPr/>
          <p:nvPr/>
        </p:nvSpPr>
        <p:spPr>
          <a:xfrm>
            <a:off x="3051000" y="5444640"/>
            <a:ext cx="5988960" cy="85896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By leveraging cutting-edge technology and process optimization, we will set a new standard for semiconductor manufacturing efficiency and performance with the competitive advantage of the cheaper workforce.</a:t>
            </a:r>
            <a:endParaRPr b="0" lang="bg-BG"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1" name="Shape 0"/>
          <p:cNvSpPr/>
          <p:nvPr/>
        </p:nvSpPr>
        <p:spPr>
          <a:xfrm>
            <a:off x="6100560" y="2142360"/>
            <a:ext cx="3057120" cy="471780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22" name="Text 1"/>
          <p:cNvSpPr/>
          <p:nvPr/>
        </p:nvSpPr>
        <p:spPr>
          <a:xfrm>
            <a:off x="6100560" y="2142360"/>
            <a:ext cx="3057120" cy="47178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23" name="Shape 2"/>
          <p:cNvSpPr/>
          <p:nvPr/>
        </p:nvSpPr>
        <p:spPr>
          <a:xfrm>
            <a:off x="9151560" y="1777320"/>
            <a:ext cx="3042000" cy="4898160"/>
          </a:xfrm>
          <a:prstGeom prst="rect">
            <a:avLst/>
          </a:prstGeom>
          <a:solidFill>
            <a:srgbClr val="d9d9d9"/>
          </a:soli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24" name="Text 3"/>
          <p:cNvSpPr/>
          <p:nvPr/>
        </p:nvSpPr>
        <p:spPr>
          <a:xfrm>
            <a:off x="9151560" y="1777320"/>
            <a:ext cx="3042000" cy="489816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25" name="Shape 4"/>
          <p:cNvSpPr/>
          <p:nvPr/>
        </p:nvSpPr>
        <p:spPr>
          <a:xfrm>
            <a:off x="-10800" y="2136600"/>
            <a:ext cx="3057120" cy="471780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26" name="Text 5"/>
          <p:cNvSpPr/>
          <p:nvPr/>
        </p:nvSpPr>
        <p:spPr>
          <a:xfrm>
            <a:off x="-10800" y="2136600"/>
            <a:ext cx="3057120" cy="47178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27" name="Shape 6"/>
          <p:cNvSpPr/>
          <p:nvPr/>
        </p:nvSpPr>
        <p:spPr>
          <a:xfrm>
            <a:off x="-13320" y="329040"/>
            <a:ext cx="12206880" cy="1440360"/>
          </a:xfrm>
          <a:prstGeom prst="rect">
            <a:avLst/>
          </a:prstGeom>
          <a:gradFill rotWithShape="0">
            <a:gsLst>
              <a:gs pos="0">
                <a:srgbClr val="1c1c1c"/>
              </a:gs>
              <a:gs pos="51000">
                <a:srgbClr val="1c1c1c"/>
              </a:gs>
              <a:gs pos="100000">
                <a:srgbClr val="000000">
                  <a:alpha val="86000"/>
                </a:srgbClr>
              </a:gs>
            </a:gsLst>
            <a:lin ang="81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28" name="Text 7"/>
          <p:cNvSpPr/>
          <p:nvPr/>
        </p:nvSpPr>
        <p:spPr>
          <a:xfrm>
            <a:off x="-13320" y="329040"/>
            <a:ext cx="12206880" cy="144036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29" name="Text 8"/>
          <p:cNvSpPr/>
          <p:nvPr/>
        </p:nvSpPr>
        <p:spPr>
          <a:xfrm>
            <a:off x="464040" y="621720"/>
            <a:ext cx="5889960" cy="50760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3200" strike="noStrike" u="none">
                <a:solidFill>
                  <a:srgbClr val="ffffff"/>
                </a:solidFill>
                <a:effectLst/>
                <a:uFillTx/>
                <a:latin typeface="MiSans"/>
                <a:ea typeface="MiSans"/>
              </a:rPr>
              <a:t>Cleanroom &amp; Utility Concept</a:t>
            </a:r>
            <a:endParaRPr b="0" lang="bg-BG" sz="3200" strike="noStrike" u="none">
              <a:solidFill>
                <a:srgbClr val="000000"/>
              </a:solidFill>
              <a:effectLst/>
              <a:uFillTx/>
              <a:latin typeface="Arial"/>
            </a:endParaRPr>
          </a:p>
        </p:txBody>
      </p:sp>
      <p:sp>
        <p:nvSpPr>
          <p:cNvPr id="230" name="Shape 9"/>
          <p:cNvSpPr/>
          <p:nvPr/>
        </p:nvSpPr>
        <p:spPr>
          <a:xfrm>
            <a:off x="293760" y="2982240"/>
            <a:ext cx="2520000" cy="7560"/>
          </a:xfrm>
          <a:prstGeom prst="line">
            <a:avLst/>
          </a:prstGeom>
          <a:ln w="3175">
            <a:solidFill>
              <a:srgbClr val="595959"/>
            </a:solidFill>
            <a:round/>
          </a:ln>
        </p:spPr>
        <p:style>
          <a:lnRef idx="0"/>
          <a:fillRef idx="0"/>
          <a:effectRef idx="0"/>
          <a:fontRef idx="minor"/>
        </p:style>
        <p:txBody>
          <a:bodyPr lIns="90000" rIns="90000" tIns="-37440" bIns="-37440" anchor="t" anchorCtr="1">
            <a:noAutofit/>
          </a:bodyPr>
          <a:p>
            <a:endParaRPr b="0" lang="bg-BG" sz="1800" strike="noStrike" u="none">
              <a:solidFill>
                <a:srgbClr val="000000"/>
              </a:solidFill>
              <a:effectLst/>
              <a:uFillTx/>
              <a:latin typeface="Arial"/>
            </a:endParaRPr>
          </a:p>
        </p:txBody>
      </p:sp>
      <p:sp>
        <p:nvSpPr>
          <p:cNvPr id="231" name="Shape 10"/>
          <p:cNvSpPr/>
          <p:nvPr/>
        </p:nvSpPr>
        <p:spPr>
          <a:xfrm>
            <a:off x="8695800" y="175320"/>
            <a:ext cx="4012200" cy="1756800"/>
          </a:xfrm>
          <a:prstGeom prst="mathPlus">
            <a:avLst>
              <a:gd name="adj1" fmla="val 0"/>
            </a:avLst>
          </a:prstGeom>
          <a:solidFill>
            <a:srgbClr val="ffffff"/>
          </a:solidFill>
          <a:ln w="19050">
            <a:solidFill>
              <a:srgbClr val="ffffff"/>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32" name="Text 11"/>
          <p:cNvSpPr/>
          <p:nvPr/>
        </p:nvSpPr>
        <p:spPr>
          <a:xfrm>
            <a:off x="8695800" y="175320"/>
            <a:ext cx="4012200" cy="17568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33" name="Shape 12"/>
          <p:cNvSpPr/>
          <p:nvPr/>
        </p:nvSpPr>
        <p:spPr>
          <a:xfrm>
            <a:off x="3043440" y="1780560"/>
            <a:ext cx="3057120" cy="4891680"/>
          </a:xfrm>
          <a:prstGeom prst="rect">
            <a:avLst/>
          </a:prstGeom>
          <a:solidFill>
            <a:srgbClr val="d9d9d9"/>
          </a:soli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34" name="Text 13"/>
          <p:cNvSpPr/>
          <p:nvPr/>
        </p:nvSpPr>
        <p:spPr>
          <a:xfrm>
            <a:off x="3043440" y="1780560"/>
            <a:ext cx="3057120" cy="48916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35" name="Shape 14"/>
          <p:cNvSpPr/>
          <p:nvPr/>
        </p:nvSpPr>
        <p:spPr>
          <a:xfrm>
            <a:off x="-12600" y="6413400"/>
            <a:ext cx="12205440" cy="44676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236" name="Text 15"/>
          <p:cNvSpPr/>
          <p:nvPr/>
        </p:nvSpPr>
        <p:spPr>
          <a:xfrm>
            <a:off x="-12600" y="6413400"/>
            <a:ext cx="12205440" cy="44676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37" name="Shape 16"/>
          <p:cNvSpPr/>
          <p:nvPr/>
        </p:nvSpPr>
        <p:spPr>
          <a:xfrm>
            <a:off x="3325680" y="2989800"/>
            <a:ext cx="2520360" cy="7560"/>
          </a:xfrm>
          <a:prstGeom prst="line">
            <a:avLst/>
          </a:prstGeom>
          <a:ln w="3175">
            <a:solidFill>
              <a:srgbClr val="595959"/>
            </a:solidFill>
            <a:round/>
          </a:ln>
        </p:spPr>
        <p:style>
          <a:lnRef idx="0"/>
          <a:fillRef idx="0"/>
          <a:effectRef idx="0"/>
          <a:fontRef idx="minor"/>
        </p:style>
        <p:txBody>
          <a:bodyPr lIns="90000" rIns="90000" tIns="-37440" bIns="-37440" anchor="t" anchorCtr="1">
            <a:noAutofit/>
          </a:bodyPr>
          <a:p>
            <a:endParaRPr b="0" lang="bg-BG" sz="1800" strike="noStrike" u="none">
              <a:solidFill>
                <a:srgbClr val="000000"/>
              </a:solidFill>
              <a:effectLst/>
              <a:uFillTx/>
              <a:latin typeface="Arial"/>
            </a:endParaRPr>
          </a:p>
        </p:txBody>
      </p:sp>
      <p:sp>
        <p:nvSpPr>
          <p:cNvPr id="238" name="Shape 17"/>
          <p:cNvSpPr/>
          <p:nvPr/>
        </p:nvSpPr>
        <p:spPr>
          <a:xfrm>
            <a:off x="6377400" y="2984760"/>
            <a:ext cx="2520360" cy="7560"/>
          </a:xfrm>
          <a:prstGeom prst="line">
            <a:avLst/>
          </a:prstGeom>
          <a:ln w="3175">
            <a:solidFill>
              <a:srgbClr val="595959"/>
            </a:solidFill>
            <a:round/>
          </a:ln>
        </p:spPr>
        <p:style>
          <a:lnRef idx="0"/>
          <a:fillRef idx="0"/>
          <a:effectRef idx="0"/>
          <a:fontRef idx="minor"/>
        </p:style>
        <p:txBody>
          <a:bodyPr lIns="90000" rIns="90000" tIns="-37440" bIns="-37440" anchor="t" anchorCtr="1">
            <a:noAutofit/>
          </a:bodyPr>
          <a:p>
            <a:endParaRPr b="0" lang="bg-BG" sz="1800" strike="noStrike" u="none">
              <a:solidFill>
                <a:srgbClr val="000000"/>
              </a:solidFill>
              <a:effectLst/>
              <a:uFillTx/>
              <a:latin typeface="Arial"/>
            </a:endParaRPr>
          </a:p>
        </p:txBody>
      </p:sp>
      <p:sp>
        <p:nvSpPr>
          <p:cNvPr id="239" name="Shape 18"/>
          <p:cNvSpPr/>
          <p:nvPr/>
        </p:nvSpPr>
        <p:spPr>
          <a:xfrm>
            <a:off x="9429480" y="2985480"/>
            <a:ext cx="2520000" cy="7560"/>
          </a:xfrm>
          <a:prstGeom prst="line">
            <a:avLst/>
          </a:prstGeom>
          <a:ln w="3175">
            <a:solidFill>
              <a:srgbClr val="595959"/>
            </a:solidFill>
            <a:round/>
          </a:ln>
        </p:spPr>
        <p:style>
          <a:lnRef idx="0"/>
          <a:fillRef idx="0"/>
          <a:effectRef idx="0"/>
          <a:fontRef idx="minor"/>
        </p:style>
        <p:txBody>
          <a:bodyPr lIns="90000" rIns="90000" tIns="-37440" bIns="-37440" anchor="t" anchorCtr="1">
            <a:noAutofit/>
          </a:bodyPr>
          <a:p>
            <a:endParaRPr b="0" lang="bg-BG" sz="1800" strike="noStrike" u="none">
              <a:solidFill>
                <a:srgbClr val="000000"/>
              </a:solidFill>
              <a:effectLst/>
              <a:uFillTx/>
              <a:latin typeface="Arial"/>
            </a:endParaRPr>
          </a:p>
        </p:txBody>
      </p:sp>
      <p:sp>
        <p:nvSpPr>
          <p:cNvPr id="240" name="Shape 19"/>
          <p:cNvSpPr/>
          <p:nvPr/>
        </p:nvSpPr>
        <p:spPr>
          <a:xfrm flipV="1">
            <a:off x="9180720" y="332640"/>
            <a:ext cx="360" cy="1419120"/>
          </a:xfrm>
          <a:prstGeom prst="line">
            <a:avLst/>
          </a:prstGeom>
          <a:ln w="19050">
            <a:solidFill>
              <a:srgbClr val="ffffff"/>
            </a:solidFill>
            <a:round/>
          </a:ln>
        </p:spPr>
        <p:style>
          <a:lnRef idx="0"/>
          <a:fillRef idx="0"/>
          <a:effectRef idx="0"/>
          <a:fontRef idx="minor"/>
        </p:style>
        <p:txBody>
          <a:bodyPr lIns="90000" rIns="90000" tIns="45000" bIns="45000" anchor="t" anchorCtr="1">
            <a:noAutofit/>
          </a:bodyPr>
          <a:p>
            <a:endParaRPr b="0" lang="bg-BG" sz="1800" strike="noStrike" u="none">
              <a:solidFill>
                <a:srgbClr val="000000"/>
              </a:solidFill>
              <a:effectLst/>
              <a:uFillTx/>
              <a:latin typeface="Arial"/>
            </a:endParaRPr>
          </a:p>
        </p:txBody>
      </p:sp>
      <p:sp>
        <p:nvSpPr>
          <p:cNvPr id="241" name="Text 20"/>
          <p:cNvSpPr/>
          <p:nvPr/>
        </p:nvSpPr>
        <p:spPr>
          <a:xfrm>
            <a:off x="720" y="2291040"/>
            <a:ext cx="3042000" cy="571320"/>
          </a:xfrm>
          <a:prstGeom prst="rect">
            <a:avLst/>
          </a:prstGeom>
          <a:noFill/>
          <a:ln w="0">
            <a:noFill/>
          </a:ln>
        </p:spPr>
        <p:style>
          <a:lnRef idx="0"/>
          <a:fillRef idx="0"/>
          <a:effectRef idx="0"/>
          <a:fontRef idx="minor"/>
        </p:style>
        <p:txBody>
          <a:bodyPr anchor="ctr">
            <a:noAutofit/>
          </a:bodyPr>
          <a:p>
            <a:pPr algn="ctr">
              <a:lnSpc>
                <a:spcPct val="120000"/>
              </a:lnSpc>
              <a:tabLst>
                <a:tab algn="l" pos="0"/>
              </a:tabLst>
            </a:pPr>
            <a:r>
              <a:rPr b="1" lang="en-US" sz="1800" strike="noStrike" u="none">
                <a:solidFill>
                  <a:srgbClr val="000000"/>
                </a:solidFill>
                <a:effectLst/>
                <a:uFillTx/>
                <a:latin typeface="MiSans"/>
                <a:ea typeface="MiSans"/>
              </a:rPr>
              <a:t>Cleanroom Design</a:t>
            </a:r>
            <a:endParaRPr b="0" lang="bg-BG" sz="1800" strike="noStrike" u="none">
              <a:solidFill>
                <a:srgbClr val="000000"/>
              </a:solidFill>
              <a:effectLst/>
              <a:uFillTx/>
              <a:latin typeface="Arial"/>
            </a:endParaRPr>
          </a:p>
        </p:txBody>
      </p:sp>
      <p:sp>
        <p:nvSpPr>
          <p:cNvPr id="242" name="Text 21"/>
          <p:cNvSpPr/>
          <p:nvPr/>
        </p:nvSpPr>
        <p:spPr>
          <a:xfrm>
            <a:off x="154440" y="3246120"/>
            <a:ext cx="2684880" cy="137160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A 40,000 m² Class-100 cleanroom will be built on a vibration-isolated slab to ensure precision manufacturing at the 3nm node.</a:t>
            </a:r>
            <a:endParaRPr b="0" lang="bg-BG" sz="1400" strike="noStrike" u="none">
              <a:solidFill>
                <a:srgbClr val="000000"/>
              </a:solidFill>
              <a:effectLst/>
              <a:uFillTx/>
              <a:latin typeface="Arial"/>
            </a:endParaRPr>
          </a:p>
        </p:txBody>
      </p:sp>
      <p:sp>
        <p:nvSpPr>
          <p:cNvPr id="243" name="Text 22"/>
          <p:cNvSpPr/>
          <p:nvPr/>
        </p:nvSpPr>
        <p:spPr>
          <a:xfrm>
            <a:off x="2898000" y="2286720"/>
            <a:ext cx="3278880" cy="571320"/>
          </a:xfrm>
          <a:prstGeom prst="rect">
            <a:avLst/>
          </a:prstGeom>
          <a:noFill/>
          <a:ln w="0">
            <a:noFill/>
          </a:ln>
        </p:spPr>
        <p:style>
          <a:lnRef idx="0"/>
          <a:fillRef idx="0"/>
          <a:effectRef idx="0"/>
          <a:fontRef idx="minor"/>
        </p:style>
        <p:txBody>
          <a:bodyPr anchor="ctr">
            <a:noAutofit/>
          </a:bodyPr>
          <a:p>
            <a:pPr algn="ctr">
              <a:lnSpc>
                <a:spcPct val="120000"/>
              </a:lnSpc>
              <a:tabLst>
                <a:tab algn="l" pos="0"/>
              </a:tabLst>
            </a:pPr>
            <a:r>
              <a:rPr b="1" lang="en-US" sz="1800" strike="noStrike" u="none">
                <a:solidFill>
                  <a:srgbClr val="000000"/>
                </a:solidFill>
                <a:effectLst/>
                <a:uFillTx/>
                <a:latin typeface="MiSans"/>
                <a:ea typeface="MiSans"/>
              </a:rPr>
              <a:t>Energy Management</a:t>
            </a:r>
            <a:endParaRPr b="0" lang="bg-BG" sz="1800" strike="noStrike" u="none">
              <a:solidFill>
                <a:srgbClr val="000000"/>
              </a:solidFill>
              <a:effectLst/>
              <a:uFillTx/>
              <a:latin typeface="Arial"/>
            </a:endParaRPr>
          </a:p>
        </p:txBody>
      </p:sp>
      <p:sp>
        <p:nvSpPr>
          <p:cNvPr id="244" name="Text 23"/>
          <p:cNvSpPr/>
          <p:nvPr/>
        </p:nvSpPr>
        <p:spPr>
          <a:xfrm>
            <a:off x="3186360" y="3241800"/>
            <a:ext cx="2684880" cy="168804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An 18MW chilled-water AI-controlled HVAC system and an 8MW renewable PPA will support sustainable operations and energy efficiency.</a:t>
            </a:r>
            <a:endParaRPr b="0" lang="bg-BG" sz="1400" strike="noStrike" u="none">
              <a:solidFill>
                <a:srgbClr val="000000"/>
              </a:solidFill>
              <a:effectLst/>
              <a:uFillTx/>
              <a:latin typeface="Arial"/>
            </a:endParaRPr>
          </a:p>
        </p:txBody>
      </p:sp>
      <p:sp>
        <p:nvSpPr>
          <p:cNvPr id="245" name="Text 24"/>
          <p:cNvSpPr/>
          <p:nvPr/>
        </p:nvSpPr>
        <p:spPr>
          <a:xfrm>
            <a:off x="5950080" y="2281680"/>
            <a:ext cx="3278880" cy="571320"/>
          </a:xfrm>
          <a:prstGeom prst="rect">
            <a:avLst/>
          </a:prstGeom>
          <a:noFill/>
          <a:ln w="0">
            <a:noFill/>
          </a:ln>
        </p:spPr>
        <p:style>
          <a:lnRef idx="0"/>
          <a:fillRef idx="0"/>
          <a:effectRef idx="0"/>
          <a:fontRef idx="minor"/>
        </p:style>
        <p:txBody>
          <a:bodyPr anchor="ctr">
            <a:noAutofit/>
          </a:bodyPr>
          <a:p>
            <a:pPr algn="ctr">
              <a:lnSpc>
                <a:spcPct val="120000"/>
              </a:lnSpc>
              <a:tabLst>
                <a:tab algn="l" pos="0"/>
              </a:tabLst>
            </a:pPr>
            <a:r>
              <a:rPr b="1" lang="en-US" sz="1800" strike="noStrike" u="none">
                <a:solidFill>
                  <a:srgbClr val="000000"/>
                </a:solidFill>
                <a:effectLst/>
                <a:uFillTx/>
                <a:latin typeface="MiSans"/>
                <a:ea typeface="MiSans"/>
              </a:rPr>
              <a:t>Water Supply</a:t>
            </a:r>
            <a:endParaRPr b="0" lang="bg-BG" sz="1800" strike="noStrike" u="none">
              <a:solidFill>
                <a:srgbClr val="000000"/>
              </a:solidFill>
              <a:effectLst/>
              <a:uFillTx/>
              <a:latin typeface="Arial"/>
            </a:endParaRPr>
          </a:p>
        </p:txBody>
      </p:sp>
      <p:sp>
        <p:nvSpPr>
          <p:cNvPr id="246" name="Text 25"/>
          <p:cNvSpPr/>
          <p:nvPr/>
        </p:nvSpPr>
        <p:spPr>
          <a:xfrm>
            <a:off x="6238080" y="3236760"/>
            <a:ext cx="2684880" cy="140652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A 2,800 m³/h UPW loop and a zero-liquid-discharge plant will ensure a reliable and environmentally friendly water supply.</a:t>
            </a:r>
            <a:endParaRPr b="0" lang="bg-BG" sz="1400" strike="noStrike" u="none">
              <a:solidFill>
                <a:srgbClr val="000000"/>
              </a:solidFill>
              <a:effectLst/>
              <a:uFillTx/>
              <a:latin typeface="Arial"/>
            </a:endParaRPr>
          </a:p>
        </p:txBody>
      </p:sp>
      <p:sp>
        <p:nvSpPr>
          <p:cNvPr id="247" name="Text 26"/>
          <p:cNvSpPr/>
          <p:nvPr/>
        </p:nvSpPr>
        <p:spPr>
          <a:xfrm>
            <a:off x="9135720" y="2282040"/>
            <a:ext cx="3057840" cy="571320"/>
          </a:xfrm>
          <a:prstGeom prst="rect">
            <a:avLst/>
          </a:prstGeom>
          <a:noFill/>
          <a:ln w="0">
            <a:noFill/>
          </a:ln>
        </p:spPr>
        <p:style>
          <a:lnRef idx="0"/>
          <a:fillRef idx="0"/>
          <a:effectRef idx="0"/>
          <a:fontRef idx="minor"/>
        </p:style>
        <p:txBody>
          <a:bodyPr anchor="ctr">
            <a:noAutofit/>
          </a:bodyPr>
          <a:p>
            <a:pPr algn="ctr">
              <a:lnSpc>
                <a:spcPct val="120000"/>
              </a:lnSpc>
              <a:tabLst>
                <a:tab algn="l" pos="0"/>
              </a:tabLst>
            </a:pPr>
            <a:r>
              <a:rPr b="1" lang="en-US" sz="1800" strike="noStrike" u="none">
                <a:solidFill>
                  <a:srgbClr val="000000"/>
                </a:solidFill>
                <a:effectLst/>
                <a:uFillTx/>
                <a:latin typeface="MiSans"/>
                <a:ea typeface="MiSans"/>
              </a:rPr>
              <a:t>Particle Control</a:t>
            </a:r>
            <a:endParaRPr b="0" lang="bg-BG" sz="1800" strike="noStrike" u="none">
              <a:solidFill>
                <a:srgbClr val="000000"/>
              </a:solidFill>
              <a:effectLst/>
              <a:uFillTx/>
              <a:latin typeface="Arial"/>
            </a:endParaRPr>
          </a:p>
        </p:txBody>
      </p:sp>
      <p:sp>
        <p:nvSpPr>
          <p:cNvPr id="248" name="Text 27"/>
          <p:cNvSpPr/>
          <p:nvPr/>
        </p:nvSpPr>
        <p:spPr>
          <a:xfrm>
            <a:off x="9290160" y="3237120"/>
            <a:ext cx="2684880" cy="140652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Advanced filtration systems will maintain sub-1nm particle control, ensuring high yield and quality in semiconductor production.</a:t>
            </a:r>
            <a:endParaRPr b="0" lang="bg-BG"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9" name="Shape 0"/>
          <p:cNvSpPr/>
          <p:nvPr/>
        </p:nvSpPr>
        <p:spPr>
          <a:xfrm>
            <a:off x="0" y="-16560"/>
            <a:ext cx="12195360" cy="6880680"/>
          </a:xfrm>
          <a:prstGeom prst="rect">
            <a:avLst/>
          </a:prstGeom>
          <a:gradFill rotWithShape="0">
            <a:gsLst>
              <a:gs pos="0">
                <a:srgbClr val="f6f8fd"/>
              </a:gs>
              <a:gs pos="100000">
                <a:srgbClr val="bebebe"/>
              </a:gs>
            </a:gsLst>
            <a:lin ang="54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50" name="Text 1"/>
          <p:cNvSpPr/>
          <p:nvPr/>
        </p:nvSpPr>
        <p:spPr>
          <a:xfrm>
            <a:off x="0" y="-16560"/>
            <a:ext cx="12195360" cy="68806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251" name="Image 0" descr="https://kimi-img.moonshot.cn/pub/slides/slides_tmpl/image/25-08-27-19:57:52-d2nf5g18bjvh7rlivt90.png"/>
          <p:cNvPicPr/>
          <p:nvPr/>
        </p:nvPicPr>
        <p:blipFill>
          <a:blip r:embed="rId1"/>
          <a:srcRect l="20539" t="0" r="0" b="0"/>
          <a:stretch/>
        </p:blipFill>
        <p:spPr>
          <a:xfrm>
            <a:off x="1087200" y="-23400"/>
            <a:ext cx="3194280" cy="6857640"/>
          </a:xfrm>
          <a:prstGeom prst="rect">
            <a:avLst/>
          </a:prstGeom>
          <a:noFill/>
          <a:ln w="0">
            <a:noFill/>
          </a:ln>
        </p:spPr>
      </p:pic>
      <p:sp>
        <p:nvSpPr>
          <p:cNvPr id="252" name="Shape 2"/>
          <p:cNvSpPr/>
          <p:nvPr/>
        </p:nvSpPr>
        <p:spPr>
          <a:xfrm>
            <a:off x="5438880" y="-23400"/>
            <a:ext cx="6750360" cy="688104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253" name="Text 3"/>
          <p:cNvSpPr/>
          <p:nvPr/>
        </p:nvSpPr>
        <p:spPr>
          <a:xfrm>
            <a:off x="5438880" y="-23400"/>
            <a:ext cx="6750360" cy="6881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54" name="Text 4"/>
          <p:cNvSpPr/>
          <p:nvPr/>
        </p:nvSpPr>
        <p:spPr>
          <a:xfrm>
            <a:off x="6524640" y="4012560"/>
            <a:ext cx="4441320" cy="1381320"/>
          </a:xfrm>
          <a:prstGeom prst="rect">
            <a:avLst/>
          </a:prstGeom>
          <a:noFill/>
          <a:ln w="0">
            <a:noFill/>
          </a:ln>
        </p:spPr>
        <p:style>
          <a:lnRef idx="0"/>
          <a:fillRef idx="0"/>
          <a:effectRef idx="0"/>
          <a:fontRef idx="minor"/>
        </p:style>
        <p:txBody>
          <a:bodyPr anchor="t">
            <a:noAutofit/>
          </a:bodyPr>
          <a:p>
            <a:pPr algn="ctr">
              <a:lnSpc>
                <a:spcPct val="120000"/>
              </a:lnSpc>
              <a:tabLst>
                <a:tab algn="l" pos="0"/>
              </a:tabLst>
            </a:pPr>
            <a:r>
              <a:rPr b="0" lang="en-US" sz="3200" strike="noStrike" u="none">
                <a:solidFill>
                  <a:srgbClr val="ffffff"/>
                </a:solidFill>
                <a:effectLst/>
                <a:uFillTx/>
                <a:latin typeface="MiSans"/>
                <a:ea typeface="MiSans"/>
              </a:rPr>
              <a:t>Finance &amp; Timeline</a:t>
            </a:r>
            <a:endParaRPr b="0" lang="bg-BG" sz="3200" strike="noStrike" u="none">
              <a:solidFill>
                <a:srgbClr val="000000"/>
              </a:solidFill>
              <a:effectLst/>
              <a:uFillTx/>
              <a:latin typeface="Arial"/>
            </a:endParaRPr>
          </a:p>
        </p:txBody>
      </p:sp>
      <p:sp>
        <p:nvSpPr>
          <p:cNvPr id="255" name="Text 5"/>
          <p:cNvSpPr/>
          <p:nvPr/>
        </p:nvSpPr>
        <p:spPr>
          <a:xfrm>
            <a:off x="7765560" y="1823040"/>
            <a:ext cx="1781280" cy="133056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9600" strike="noStrike" u="none">
                <a:solidFill>
                  <a:srgbClr val="ffffff"/>
                </a:solidFill>
                <a:effectLst/>
                <a:uFillTx/>
                <a:latin typeface="MiSans"/>
                <a:ea typeface="MiSans"/>
              </a:rPr>
              <a:t>05</a:t>
            </a:r>
            <a:endParaRPr b="0" lang="bg-BG" sz="9600" strike="noStrike" u="none">
              <a:solidFill>
                <a:srgbClr val="000000"/>
              </a:solidFill>
              <a:effectLst/>
              <a:uFillTx/>
              <a:latin typeface="Arial"/>
            </a:endParaRPr>
          </a:p>
        </p:txBody>
      </p:sp>
      <p:pic>
        <p:nvPicPr>
          <p:cNvPr id="256" name="Image 1" descr="https://kimi-img.moonshot.cn/pub/slides/slides_tmpl/image/25-08-27-19:57:52-d2nf5g18bjvh7rlivtag.png"/>
          <p:cNvPicPr/>
          <p:nvPr/>
        </p:nvPicPr>
        <p:blipFill>
          <a:blip r:embed="rId2"/>
          <a:stretch/>
        </p:blipFill>
        <p:spPr>
          <a:xfrm>
            <a:off x="1328400" y="2077200"/>
            <a:ext cx="2712240" cy="2669760"/>
          </a:xfrm>
          <a:prstGeom prst="rect">
            <a:avLst/>
          </a:prstGeom>
          <a:noFill/>
          <a:ln w="0">
            <a:noFill/>
          </a:ln>
        </p:spPr>
      </p:pic>
      <p:pic>
        <p:nvPicPr>
          <p:cNvPr id="257" name="Image 2" descr="https://kimi-img.moonshot.cn/pub/slides/slides_tmpl/image/25-08-27-19:57:52-d2nf5g18bjvh7rlivt9g.png"/>
          <p:cNvPicPr/>
          <p:nvPr/>
        </p:nvPicPr>
        <p:blipFill>
          <a:blip r:embed="rId3"/>
          <a:stretch/>
        </p:blipFill>
        <p:spPr>
          <a:xfrm>
            <a:off x="9546480" y="2077200"/>
            <a:ext cx="920520" cy="33480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58" name="Image 0" descr="https://kimi-img.moonshot.cn/pub/slides/slides_tmpl/image/25-08-27-19:57:58-d2nf5hh8bjvh7rlivtsg.png"/>
          <p:cNvPicPr/>
          <p:nvPr/>
        </p:nvPicPr>
        <p:blipFill>
          <a:blip r:embed="rId1"/>
          <a:stretch/>
        </p:blipFill>
        <p:spPr>
          <a:xfrm>
            <a:off x="-13320" y="1548720"/>
            <a:ext cx="4717800" cy="5315400"/>
          </a:xfrm>
          <a:prstGeom prst="rect">
            <a:avLst/>
          </a:prstGeom>
          <a:noFill/>
          <a:ln w="0">
            <a:noFill/>
          </a:ln>
        </p:spPr>
      </p:pic>
      <p:sp>
        <p:nvSpPr>
          <p:cNvPr id="259" name="Shape 0"/>
          <p:cNvSpPr/>
          <p:nvPr/>
        </p:nvSpPr>
        <p:spPr>
          <a:xfrm>
            <a:off x="-4320" y="63000"/>
            <a:ext cx="4717080" cy="1483560"/>
          </a:xfrm>
          <a:prstGeom prst="rect">
            <a:avLst/>
          </a:prstGeom>
          <a:solidFill>
            <a:srgbClr val="ffffff"/>
          </a:solidFill>
          <a:ln w="19050">
            <a:solidFill>
              <a:srgbClr val="000000"/>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60" name="Text 1"/>
          <p:cNvSpPr/>
          <p:nvPr/>
        </p:nvSpPr>
        <p:spPr>
          <a:xfrm>
            <a:off x="-4320" y="63000"/>
            <a:ext cx="4717080" cy="148356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61" name="Shape 2"/>
          <p:cNvSpPr/>
          <p:nvPr/>
        </p:nvSpPr>
        <p:spPr>
          <a:xfrm>
            <a:off x="7830000" y="869760"/>
            <a:ext cx="2247840" cy="360"/>
          </a:xfrm>
          <a:prstGeom prst="line">
            <a:avLst/>
          </a:prstGeom>
          <a:ln w="19050">
            <a:solidFill>
              <a:srgbClr val="000000"/>
            </a:solidFill>
            <a:round/>
          </a:ln>
        </p:spPr>
        <p:style>
          <a:lnRef idx="0"/>
          <a:fillRef idx="0"/>
          <a:effectRef idx="0"/>
          <a:fontRef idx="minor"/>
        </p:style>
        <p:txBody>
          <a:bodyPr lIns="90000" rIns="90000" tIns="-44640" bIns="-44640" anchor="t" anchorCtr="1">
            <a:noAutofit/>
          </a:bodyPr>
          <a:p>
            <a:endParaRPr b="0" lang="bg-BG" sz="1800" strike="noStrike" u="none">
              <a:solidFill>
                <a:srgbClr val="000000"/>
              </a:solidFill>
              <a:effectLst/>
              <a:uFillTx/>
              <a:latin typeface="Arial"/>
            </a:endParaRPr>
          </a:p>
        </p:txBody>
      </p:sp>
      <p:sp>
        <p:nvSpPr>
          <p:cNvPr id="262" name="Shape 3"/>
          <p:cNvSpPr/>
          <p:nvPr/>
        </p:nvSpPr>
        <p:spPr>
          <a:xfrm>
            <a:off x="7863120" y="2713320"/>
            <a:ext cx="2240280" cy="360"/>
          </a:xfrm>
          <a:prstGeom prst="line">
            <a:avLst/>
          </a:prstGeom>
          <a:ln w="19050">
            <a:solidFill>
              <a:srgbClr val="000000"/>
            </a:solidFill>
            <a:round/>
          </a:ln>
        </p:spPr>
        <p:style>
          <a:lnRef idx="0"/>
          <a:fillRef idx="0"/>
          <a:effectRef idx="0"/>
          <a:fontRef idx="minor"/>
        </p:style>
        <p:txBody>
          <a:bodyPr lIns="90000" rIns="90000" tIns="-44640" bIns="-44640" anchor="t" anchorCtr="1">
            <a:noAutofit/>
          </a:bodyPr>
          <a:p>
            <a:endParaRPr b="0" lang="bg-BG" sz="1800" strike="noStrike" u="none">
              <a:solidFill>
                <a:srgbClr val="000000"/>
              </a:solidFill>
              <a:effectLst/>
              <a:uFillTx/>
              <a:latin typeface="Arial"/>
            </a:endParaRPr>
          </a:p>
        </p:txBody>
      </p:sp>
      <p:sp>
        <p:nvSpPr>
          <p:cNvPr id="263" name="Shape 4"/>
          <p:cNvSpPr/>
          <p:nvPr/>
        </p:nvSpPr>
        <p:spPr>
          <a:xfrm>
            <a:off x="7839360" y="4596120"/>
            <a:ext cx="2253240" cy="360"/>
          </a:xfrm>
          <a:prstGeom prst="line">
            <a:avLst/>
          </a:prstGeom>
          <a:ln w="19050">
            <a:solidFill>
              <a:srgbClr val="000000"/>
            </a:solidFill>
            <a:round/>
          </a:ln>
        </p:spPr>
        <p:style>
          <a:lnRef idx="0"/>
          <a:fillRef idx="0"/>
          <a:effectRef idx="0"/>
          <a:fontRef idx="minor"/>
        </p:style>
        <p:txBody>
          <a:bodyPr lIns="90000" rIns="90000" tIns="-44640" bIns="-44640" anchor="t" anchorCtr="1">
            <a:noAutofit/>
          </a:bodyPr>
          <a:p>
            <a:endParaRPr b="0" lang="bg-BG" sz="1800" strike="noStrike" u="none">
              <a:solidFill>
                <a:srgbClr val="000000"/>
              </a:solidFill>
              <a:effectLst/>
              <a:uFillTx/>
              <a:latin typeface="Arial"/>
            </a:endParaRPr>
          </a:p>
        </p:txBody>
      </p:sp>
      <p:sp>
        <p:nvSpPr>
          <p:cNvPr id="264" name="Text 5"/>
          <p:cNvSpPr/>
          <p:nvPr/>
        </p:nvSpPr>
        <p:spPr>
          <a:xfrm>
            <a:off x="0" y="471240"/>
            <a:ext cx="4572720" cy="128736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3200" strike="noStrike" u="none">
                <a:solidFill>
                  <a:srgbClr val="262626"/>
                </a:solidFill>
                <a:effectLst/>
                <a:uFillTx/>
                <a:latin typeface="MiSans"/>
                <a:ea typeface="MiSans"/>
              </a:rPr>
              <a:t>$10B+ Capital Structure</a:t>
            </a:r>
            <a:endParaRPr b="0" lang="bg-BG" sz="3200" strike="noStrike" u="none">
              <a:solidFill>
                <a:srgbClr val="000000"/>
              </a:solidFill>
              <a:effectLst/>
              <a:uFillTx/>
              <a:latin typeface="Arial"/>
            </a:endParaRPr>
          </a:p>
        </p:txBody>
      </p:sp>
      <p:sp>
        <p:nvSpPr>
          <p:cNvPr id="265" name="Shape 6"/>
          <p:cNvSpPr/>
          <p:nvPr/>
        </p:nvSpPr>
        <p:spPr>
          <a:xfrm>
            <a:off x="4710960" y="46080"/>
            <a:ext cx="360" cy="6831360"/>
          </a:xfrm>
          <a:prstGeom prst="line">
            <a:avLst/>
          </a:prstGeom>
          <a:ln w="19050">
            <a:solidFill>
              <a:srgbClr val="000000"/>
            </a:solidFill>
            <a:round/>
          </a:ln>
        </p:spPr>
        <p:style>
          <a:lnRef idx="0"/>
          <a:fillRef idx="0"/>
          <a:effectRef idx="0"/>
          <a:fontRef idx="minor"/>
        </p:style>
        <p:txBody>
          <a:bodyPr lIns="90000" rIns="90000" tIns="45000" bIns="45000" anchor="t" anchorCtr="1">
            <a:noAutofit/>
          </a:bodyPr>
          <a:p>
            <a:endParaRPr b="0" lang="bg-BG" sz="1800" strike="noStrike" u="none">
              <a:solidFill>
                <a:srgbClr val="000000"/>
              </a:solidFill>
              <a:effectLst/>
              <a:uFillTx/>
              <a:latin typeface="Arial"/>
            </a:endParaRPr>
          </a:p>
        </p:txBody>
      </p:sp>
      <p:sp>
        <p:nvSpPr>
          <p:cNvPr id="266" name="Shape 7"/>
          <p:cNvSpPr/>
          <p:nvPr/>
        </p:nvSpPr>
        <p:spPr>
          <a:xfrm rot="5400000">
            <a:off x="6037200" y="-6035400"/>
            <a:ext cx="147600" cy="12231000"/>
          </a:xfrm>
          <a:prstGeom prst="rect">
            <a:avLst/>
          </a:prstGeom>
          <a:solidFill>
            <a:srgbClr val="1c1c1c"/>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267" name="Text 8"/>
          <p:cNvSpPr/>
          <p:nvPr/>
        </p:nvSpPr>
        <p:spPr>
          <a:xfrm rot="5400000">
            <a:off x="6037200" y="-6035400"/>
            <a:ext cx="147600" cy="122310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68" name="Shape 9"/>
          <p:cNvSpPr/>
          <p:nvPr/>
        </p:nvSpPr>
        <p:spPr>
          <a:xfrm>
            <a:off x="4717440" y="6331680"/>
            <a:ext cx="7508520" cy="532440"/>
          </a:xfrm>
          <a:prstGeom prst="rect">
            <a:avLst/>
          </a:prstGeom>
          <a:solidFill>
            <a:srgbClr val="10101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269" name="Text 10"/>
          <p:cNvSpPr/>
          <p:nvPr/>
        </p:nvSpPr>
        <p:spPr>
          <a:xfrm>
            <a:off x="4717440" y="6331680"/>
            <a:ext cx="7508520" cy="5324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270" name="Image 1" descr="https://kimi-img.moonshot.cn/pub/slides/slides_tmpl/image/25-08-27-19:57:58-d2nf5hh8bjvh7rlivtr0.png"/>
          <p:cNvPicPr/>
          <p:nvPr/>
        </p:nvPicPr>
        <p:blipFill>
          <a:blip r:embed="rId2"/>
          <a:stretch/>
        </p:blipFill>
        <p:spPr>
          <a:xfrm>
            <a:off x="10485720" y="504360"/>
            <a:ext cx="1164240" cy="731160"/>
          </a:xfrm>
          <a:prstGeom prst="rect">
            <a:avLst/>
          </a:prstGeom>
          <a:noFill/>
          <a:ln w="0">
            <a:noFill/>
          </a:ln>
        </p:spPr>
      </p:pic>
      <p:pic>
        <p:nvPicPr>
          <p:cNvPr id="271" name="Image 2" descr="https://kimi-img.moonshot.cn/pub/slides/slides_tmpl/image/25-08-27-19:57:58-d2nf5hh8bjvh7rlivtqg.png"/>
          <p:cNvPicPr/>
          <p:nvPr/>
        </p:nvPicPr>
        <p:blipFill>
          <a:blip r:embed="rId3"/>
          <a:stretch/>
        </p:blipFill>
        <p:spPr>
          <a:xfrm>
            <a:off x="10485720" y="2350800"/>
            <a:ext cx="1164240" cy="731160"/>
          </a:xfrm>
          <a:prstGeom prst="rect">
            <a:avLst/>
          </a:prstGeom>
          <a:noFill/>
          <a:ln w="0">
            <a:noFill/>
          </a:ln>
        </p:spPr>
      </p:pic>
      <p:pic>
        <p:nvPicPr>
          <p:cNvPr id="272" name="Image 3" descr="https://kimi-img.moonshot.cn/pub/slides/slides_tmpl/image/25-08-27-19:57:58-d2nf5hh8bjvh7rlivtrg.png"/>
          <p:cNvPicPr/>
          <p:nvPr/>
        </p:nvPicPr>
        <p:blipFill>
          <a:blip r:embed="rId4"/>
          <a:stretch/>
        </p:blipFill>
        <p:spPr>
          <a:xfrm>
            <a:off x="10485720" y="4217760"/>
            <a:ext cx="1164240" cy="731160"/>
          </a:xfrm>
          <a:prstGeom prst="rect">
            <a:avLst/>
          </a:prstGeom>
          <a:noFill/>
          <a:ln w="0">
            <a:noFill/>
          </a:ln>
        </p:spPr>
      </p:pic>
      <p:sp>
        <p:nvSpPr>
          <p:cNvPr id="273" name="Text 11"/>
          <p:cNvSpPr/>
          <p:nvPr/>
        </p:nvSpPr>
        <p:spPr>
          <a:xfrm>
            <a:off x="5467320" y="670680"/>
            <a:ext cx="234792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Budget Allocation</a:t>
            </a:r>
            <a:endParaRPr b="0" lang="bg-BG" sz="1800" strike="noStrike" u="none">
              <a:solidFill>
                <a:srgbClr val="000000"/>
              </a:solidFill>
              <a:effectLst/>
              <a:uFillTx/>
              <a:latin typeface="Arial"/>
            </a:endParaRPr>
          </a:p>
        </p:txBody>
      </p:sp>
      <p:sp>
        <p:nvSpPr>
          <p:cNvPr id="274" name="Text 12"/>
          <p:cNvSpPr/>
          <p:nvPr/>
        </p:nvSpPr>
        <p:spPr>
          <a:xfrm>
            <a:off x="5482080" y="1177200"/>
            <a:ext cx="5952240" cy="85896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The $10 billion budget is allocated as follows: 55% for equipment, 15% for construction, 10% for R&amp;D, 8% for contingency, 7% for working capital, and 5% for training.</a:t>
            </a:r>
            <a:endParaRPr b="0" lang="bg-BG" sz="1400" strike="noStrike" u="none">
              <a:solidFill>
                <a:srgbClr val="000000"/>
              </a:solidFill>
              <a:effectLst/>
              <a:uFillTx/>
              <a:latin typeface="Arial"/>
            </a:endParaRPr>
          </a:p>
        </p:txBody>
      </p:sp>
      <p:sp>
        <p:nvSpPr>
          <p:cNvPr id="275" name="Text 13"/>
          <p:cNvSpPr/>
          <p:nvPr/>
        </p:nvSpPr>
        <p:spPr>
          <a:xfrm>
            <a:off x="5482080" y="2499480"/>
            <a:ext cx="234792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Funding Sources</a:t>
            </a:r>
            <a:endParaRPr b="0" lang="bg-BG" sz="1800" strike="noStrike" u="none">
              <a:solidFill>
                <a:srgbClr val="000000"/>
              </a:solidFill>
              <a:effectLst/>
              <a:uFillTx/>
              <a:latin typeface="Arial"/>
            </a:endParaRPr>
          </a:p>
        </p:txBody>
      </p:sp>
      <p:sp>
        <p:nvSpPr>
          <p:cNvPr id="276" name="Text 14"/>
          <p:cNvSpPr/>
          <p:nvPr/>
        </p:nvSpPr>
        <p:spPr>
          <a:xfrm>
            <a:off x="5443200" y="3003480"/>
            <a:ext cx="5952240" cy="111564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Funding will come from a 40% Bulgarian state grant, 30% EIB loan, 20% strategic customer pre-payments, and 10% equity from founders. INZAIT will provide a surplus of 10%  by outstanding personal connections with Big Tech, Big Science, the government and the best investors.</a:t>
            </a:r>
            <a:endParaRPr b="0" lang="bg-BG" sz="1400" strike="noStrike" u="none">
              <a:solidFill>
                <a:srgbClr val="000000"/>
              </a:solidFill>
              <a:effectLst/>
              <a:uFillTx/>
              <a:latin typeface="Arial"/>
            </a:endParaRPr>
          </a:p>
        </p:txBody>
      </p:sp>
      <p:sp>
        <p:nvSpPr>
          <p:cNvPr id="277" name="Text 15"/>
          <p:cNvSpPr/>
          <p:nvPr/>
        </p:nvSpPr>
        <p:spPr>
          <a:xfrm>
            <a:off x="5482080" y="4374000"/>
            <a:ext cx="234792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Financial Sustainability</a:t>
            </a:r>
            <a:endParaRPr b="0" lang="bg-BG" sz="1800" strike="noStrike" u="none">
              <a:solidFill>
                <a:srgbClr val="000000"/>
              </a:solidFill>
              <a:effectLst/>
              <a:uFillTx/>
              <a:latin typeface="Arial"/>
            </a:endParaRPr>
          </a:p>
        </p:txBody>
      </p:sp>
      <p:sp>
        <p:nvSpPr>
          <p:cNvPr id="278" name="Text 16"/>
          <p:cNvSpPr/>
          <p:nvPr/>
        </p:nvSpPr>
        <p:spPr>
          <a:xfrm>
            <a:off x="5482080" y="4875480"/>
            <a:ext cx="6037920" cy="111564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This diversified funding structure ensures financial stability and long-term sustainability for the project, minimizing risks and maximizing returns. The world class architects and visionaries from the best AI institute in Central Balkans is a strategic advantage for the development of the project.</a:t>
            </a:r>
            <a:endParaRPr b="0" lang="bg-BG"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9" name="Shape 0"/>
          <p:cNvSpPr/>
          <p:nvPr/>
        </p:nvSpPr>
        <p:spPr>
          <a:xfrm>
            <a:off x="-13320" y="0"/>
            <a:ext cx="12205080" cy="178200"/>
          </a:xfrm>
          <a:prstGeom prst="rect">
            <a:avLst/>
          </a:prstGeom>
          <a:solidFill>
            <a:srgbClr val="10101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280" name="Text 1"/>
          <p:cNvSpPr/>
          <p:nvPr/>
        </p:nvSpPr>
        <p:spPr>
          <a:xfrm>
            <a:off x="-13320" y="0"/>
            <a:ext cx="12205080" cy="17820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81" name="Shape 2"/>
          <p:cNvSpPr/>
          <p:nvPr/>
        </p:nvSpPr>
        <p:spPr>
          <a:xfrm>
            <a:off x="0" y="408600"/>
            <a:ext cx="360" cy="360"/>
          </a:xfrm>
          <a:prstGeom prst="line">
            <a:avLst/>
          </a:prstGeom>
          <a:ln w="19050">
            <a:solidFill>
              <a:srgbClr val="808080"/>
            </a:solidFill>
            <a:round/>
          </a:ln>
        </p:spPr>
        <p:style>
          <a:lnRef idx="0"/>
          <a:fillRef idx="0"/>
          <a:effectRef idx="0"/>
          <a:fontRef idx="minor"/>
        </p:style>
        <p:txBody>
          <a:bodyPr lIns="90000" rIns="90000" tIns="-44640" bIns="-44640" anchor="t" anchorCtr="1">
            <a:noAutofit/>
          </a:bodyPr>
          <a:p>
            <a:endParaRPr b="0" lang="bg-BG" sz="1800" strike="noStrike" u="none">
              <a:solidFill>
                <a:srgbClr val="000000"/>
              </a:solidFill>
              <a:effectLst/>
              <a:uFillTx/>
              <a:latin typeface="Arial"/>
            </a:endParaRPr>
          </a:p>
        </p:txBody>
      </p:sp>
      <p:sp>
        <p:nvSpPr>
          <p:cNvPr id="282" name="Shape 3"/>
          <p:cNvSpPr/>
          <p:nvPr/>
        </p:nvSpPr>
        <p:spPr>
          <a:xfrm>
            <a:off x="403200" y="2181960"/>
            <a:ext cx="7212600" cy="4516920"/>
          </a:xfrm>
          <a:prstGeom prst="rect">
            <a:avLst/>
          </a:prstGeom>
          <a:solidFill>
            <a:srgbClr val="10101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283" name="Text 4"/>
          <p:cNvSpPr/>
          <p:nvPr/>
        </p:nvSpPr>
        <p:spPr>
          <a:xfrm>
            <a:off x="403200" y="2181960"/>
            <a:ext cx="7212600" cy="451692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84" name="Text 5"/>
          <p:cNvSpPr/>
          <p:nvPr/>
        </p:nvSpPr>
        <p:spPr>
          <a:xfrm>
            <a:off x="859320" y="606600"/>
            <a:ext cx="4698000" cy="121248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3200" strike="noStrike" u="none">
                <a:solidFill>
                  <a:srgbClr val="000000"/>
                </a:solidFill>
                <a:effectLst/>
                <a:uFillTx/>
                <a:latin typeface="MiSans"/>
                <a:ea typeface="MiSans"/>
              </a:rPr>
              <a:t>48-Month Build &amp; Ramp</a:t>
            </a:r>
            <a:endParaRPr b="0" lang="bg-BG" sz="3200" strike="noStrike" u="none">
              <a:solidFill>
                <a:srgbClr val="000000"/>
              </a:solidFill>
              <a:effectLst/>
              <a:uFillTx/>
              <a:latin typeface="Arial"/>
            </a:endParaRPr>
          </a:p>
        </p:txBody>
      </p:sp>
      <p:sp>
        <p:nvSpPr>
          <p:cNvPr id="285" name="Shape 6"/>
          <p:cNvSpPr/>
          <p:nvPr/>
        </p:nvSpPr>
        <p:spPr>
          <a:xfrm>
            <a:off x="407520" y="1819440"/>
            <a:ext cx="7206120" cy="370440"/>
          </a:xfrm>
          <a:prstGeom prst="rect">
            <a:avLst/>
          </a:prstGeom>
          <a:gradFill rotWithShape="0">
            <a:gsLst>
              <a:gs pos="0">
                <a:srgbClr val="b3c4be"/>
              </a:gs>
              <a:gs pos="100000">
                <a:srgbClr val="ffffff"/>
              </a:gs>
            </a:gsLst>
            <a:lin ang="36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86" name="Text 7"/>
          <p:cNvSpPr/>
          <p:nvPr/>
        </p:nvSpPr>
        <p:spPr>
          <a:xfrm>
            <a:off x="407520" y="1819440"/>
            <a:ext cx="7206120" cy="3704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87" name="Shape 8"/>
          <p:cNvSpPr/>
          <p:nvPr/>
        </p:nvSpPr>
        <p:spPr>
          <a:xfrm flipV="1">
            <a:off x="-5400" y="747720"/>
            <a:ext cx="7619040" cy="3960"/>
          </a:xfrm>
          <a:prstGeom prst="line">
            <a:avLst/>
          </a:prstGeom>
          <a:ln w="19050">
            <a:solidFill>
              <a:srgbClr val="808080"/>
            </a:solidFill>
            <a:round/>
          </a:ln>
        </p:spPr>
        <p:style>
          <a:lnRef idx="0"/>
          <a:fillRef idx="0"/>
          <a:effectRef idx="0"/>
          <a:fontRef idx="minor"/>
        </p:style>
        <p:txBody>
          <a:bodyPr lIns="90000" rIns="90000" tIns="-41040" bIns="-41040" anchor="t" anchorCtr="1">
            <a:noAutofit/>
          </a:bodyPr>
          <a:p>
            <a:endParaRPr b="0" lang="bg-BG" sz="1800" strike="noStrike" u="none">
              <a:solidFill>
                <a:srgbClr val="000000"/>
              </a:solidFill>
              <a:effectLst/>
              <a:uFillTx/>
              <a:latin typeface="Arial"/>
            </a:endParaRPr>
          </a:p>
        </p:txBody>
      </p:sp>
      <p:sp>
        <p:nvSpPr>
          <p:cNvPr id="288" name="Shape 9"/>
          <p:cNvSpPr/>
          <p:nvPr/>
        </p:nvSpPr>
        <p:spPr>
          <a:xfrm>
            <a:off x="7616880" y="5326920"/>
            <a:ext cx="4574160" cy="1531440"/>
          </a:xfrm>
          <a:prstGeom prst="rect">
            <a:avLst/>
          </a:prstGeom>
          <a:solidFill>
            <a:srgbClr val="ffffff"/>
          </a:soli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289" name="Text 10"/>
          <p:cNvSpPr/>
          <p:nvPr/>
        </p:nvSpPr>
        <p:spPr>
          <a:xfrm>
            <a:off x="7616880" y="5326920"/>
            <a:ext cx="4574160" cy="15314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290" name="Shape 11"/>
          <p:cNvSpPr/>
          <p:nvPr/>
        </p:nvSpPr>
        <p:spPr>
          <a:xfrm>
            <a:off x="403200" y="759240"/>
            <a:ext cx="360" cy="6112440"/>
          </a:xfrm>
          <a:prstGeom prst="line">
            <a:avLst/>
          </a:prstGeom>
          <a:ln w="19050">
            <a:solidFill>
              <a:srgbClr val="000000"/>
            </a:solidFill>
            <a:round/>
          </a:ln>
        </p:spPr>
        <p:style>
          <a:lnRef idx="0"/>
          <a:fillRef idx="0"/>
          <a:effectRef idx="0"/>
          <a:fontRef idx="minor"/>
        </p:style>
        <p:txBody>
          <a:bodyPr lIns="90000" rIns="90000" tIns="45000" bIns="45000" anchor="t" anchorCtr="1">
            <a:noAutofit/>
          </a:bodyPr>
          <a:p>
            <a:endParaRPr b="0" lang="bg-BG" sz="1800" strike="noStrike" u="none">
              <a:solidFill>
                <a:srgbClr val="000000"/>
              </a:solidFill>
              <a:effectLst/>
              <a:uFillTx/>
              <a:latin typeface="Arial"/>
            </a:endParaRPr>
          </a:p>
        </p:txBody>
      </p:sp>
      <p:sp>
        <p:nvSpPr>
          <p:cNvPr id="291" name="Shape 12"/>
          <p:cNvSpPr/>
          <p:nvPr/>
        </p:nvSpPr>
        <p:spPr>
          <a:xfrm flipV="1">
            <a:off x="406080" y="6701040"/>
            <a:ext cx="7207560" cy="3240"/>
          </a:xfrm>
          <a:prstGeom prst="line">
            <a:avLst/>
          </a:prstGeom>
          <a:ln w="19050">
            <a:solidFill>
              <a:srgbClr val="808080"/>
            </a:solidFill>
            <a:round/>
          </a:ln>
        </p:spPr>
        <p:style>
          <a:lnRef idx="0"/>
          <a:fillRef idx="0"/>
          <a:effectRef idx="0"/>
          <a:fontRef idx="minor"/>
        </p:style>
        <p:txBody>
          <a:bodyPr lIns="90000" rIns="90000" tIns="-41760" bIns="-41760" anchor="t" anchorCtr="1">
            <a:noAutofit/>
          </a:bodyPr>
          <a:p>
            <a:endParaRPr b="0" lang="bg-BG" sz="1800" strike="noStrike" u="none">
              <a:solidFill>
                <a:srgbClr val="000000"/>
              </a:solidFill>
              <a:effectLst/>
              <a:uFillTx/>
              <a:latin typeface="Arial"/>
            </a:endParaRPr>
          </a:p>
        </p:txBody>
      </p:sp>
      <p:sp>
        <p:nvSpPr>
          <p:cNvPr id="292" name="Shape 13"/>
          <p:cNvSpPr/>
          <p:nvPr/>
        </p:nvSpPr>
        <p:spPr>
          <a:xfrm>
            <a:off x="7616160" y="752400"/>
            <a:ext cx="360" cy="6119280"/>
          </a:xfrm>
          <a:prstGeom prst="line">
            <a:avLst/>
          </a:prstGeom>
          <a:ln w="19050">
            <a:solidFill>
              <a:srgbClr val="000000"/>
            </a:solidFill>
            <a:round/>
          </a:ln>
        </p:spPr>
        <p:style>
          <a:lnRef idx="0"/>
          <a:fillRef idx="0"/>
          <a:effectRef idx="0"/>
          <a:fontRef idx="minor"/>
        </p:style>
        <p:txBody>
          <a:bodyPr lIns="90000" rIns="90000" tIns="45000" bIns="45000" anchor="t" anchorCtr="1">
            <a:noAutofit/>
          </a:bodyPr>
          <a:p>
            <a:endParaRPr b="0" lang="bg-BG" sz="1800" strike="noStrike" u="none">
              <a:solidFill>
                <a:srgbClr val="000000"/>
              </a:solidFill>
              <a:effectLst/>
              <a:uFillTx/>
              <a:latin typeface="Arial"/>
            </a:endParaRPr>
          </a:p>
        </p:txBody>
      </p:sp>
      <p:pic>
        <p:nvPicPr>
          <p:cNvPr id="293" name="Image 0" descr="https://kimi-img.moonshot.cn/pub/slides/slides_tmpl/image/25-08-27-19:57:57-d2nf5h98bjvh7rlivtn0.png"/>
          <p:cNvPicPr/>
          <p:nvPr/>
        </p:nvPicPr>
        <p:blipFill>
          <a:blip r:embed="rId1"/>
          <a:srcRect l="-335" t="-2747" r="335" b="6289"/>
          <a:stretch/>
        </p:blipFill>
        <p:spPr>
          <a:xfrm>
            <a:off x="7607160" y="606600"/>
            <a:ext cx="4583880" cy="5280480"/>
          </a:xfrm>
          <a:prstGeom prst="rect">
            <a:avLst/>
          </a:prstGeom>
          <a:noFill/>
          <a:ln w="0">
            <a:noFill/>
          </a:ln>
        </p:spPr>
      </p:pic>
      <p:pic>
        <p:nvPicPr>
          <p:cNvPr id="294" name="Image 1" descr="https://kimi-img.moonshot.cn/pub/slides/slides_tmpl/image/25-08-27-19:57:51-d2nf5fp8bjvh7rlivt30.png"/>
          <p:cNvPicPr/>
          <p:nvPr/>
        </p:nvPicPr>
        <p:blipFill>
          <a:blip r:embed="rId2"/>
          <a:stretch/>
        </p:blipFill>
        <p:spPr>
          <a:xfrm>
            <a:off x="669960" y="2647800"/>
            <a:ext cx="555120" cy="540720"/>
          </a:xfrm>
          <a:prstGeom prst="rect">
            <a:avLst/>
          </a:prstGeom>
          <a:noFill/>
          <a:ln w="0">
            <a:noFill/>
          </a:ln>
        </p:spPr>
      </p:pic>
      <p:pic>
        <p:nvPicPr>
          <p:cNvPr id="295" name="Image 2" descr="https://kimi-img.moonshot.cn/pub/slides/slides_tmpl/image/25-08-27-19:57:51-d2nf5fp8bjvh7rlivt2g.png"/>
          <p:cNvPicPr/>
          <p:nvPr/>
        </p:nvPicPr>
        <p:blipFill>
          <a:blip r:embed="rId3"/>
          <a:stretch/>
        </p:blipFill>
        <p:spPr>
          <a:xfrm>
            <a:off x="666720" y="4658400"/>
            <a:ext cx="555120" cy="540720"/>
          </a:xfrm>
          <a:prstGeom prst="rect">
            <a:avLst/>
          </a:prstGeom>
          <a:noFill/>
          <a:ln w="0">
            <a:noFill/>
          </a:ln>
        </p:spPr>
      </p:pic>
      <p:sp>
        <p:nvSpPr>
          <p:cNvPr id="296" name="Text 14"/>
          <p:cNvSpPr/>
          <p:nvPr/>
        </p:nvSpPr>
        <p:spPr>
          <a:xfrm>
            <a:off x="1307520" y="2669400"/>
            <a:ext cx="235800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ffffff"/>
                </a:solidFill>
                <a:effectLst/>
                <a:uFillTx/>
                <a:latin typeface="MiSans"/>
                <a:ea typeface="MiSans"/>
              </a:rPr>
              <a:t>Project Timeline</a:t>
            </a:r>
            <a:endParaRPr b="0" lang="bg-BG" sz="1800" strike="noStrike" u="none">
              <a:solidFill>
                <a:srgbClr val="000000"/>
              </a:solidFill>
              <a:effectLst/>
              <a:uFillTx/>
              <a:latin typeface="Arial"/>
            </a:endParaRPr>
          </a:p>
        </p:txBody>
      </p:sp>
      <p:sp>
        <p:nvSpPr>
          <p:cNvPr id="297" name="Text 15"/>
          <p:cNvSpPr/>
          <p:nvPr/>
        </p:nvSpPr>
        <p:spPr>
          <a:xfrm>
            <a:off x="1316880" y="3259440"/>
            <a:ext cx="5767200" cy="84384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ffffff"/>
                </a:solidFill>
                <a:effectLst/>
                <a:uFillTx/>
                <a:latin typeface="MiSans"/>
                <a:ea typeface="MiSans"/>
              </a:rPr>
              <a:t>The project will follow a 48-month timeline: permits at month 0, ground-breaking at month 12, tool move-in at month 24, and first 3nm SRAM shuttle at month 30.</a:t>
            </a:r>
            <a:endParaRPr b="0" lang="bg-BG" sz="1400" strike="noStrike" u="none">
              <a:solidFill>
                <a:srgbClr val="000000"/>
              </a:solidFill>
              <a:effectLst/>
              <a:uFillTx/>
              <a:latin typeface="Arial"/>
            </a:endParaRPr>
          </a:p>
        </p:txBody>
      </p:sp>
      <p:sp>
        <p:nvSpPr>
          <p:cNvPr id="298" name="Text 16"/>
          <p:cNvSpPr/>
          <p:nvPr/>
        </p:nvSpPr>
        <p:spPr>
          <a:xfrm>
            <a:off x="1307520" y="4671000"/>
            <a:ext cx="2358000" cy="37116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ffffff"/>
                </a:solidFill>
                <a:effectLst/>
                <a:uFillTx/>
                <a:latin typeface="MiSans"/>
                <a:ea typeface="MiSans"/>
              </a:rPr>
              <a:t>Revenue Projections</a:t>
            </a:r>
            <a:endParaRPr b="0" lang="bg-BG" sz="1800" strike="noStrike" u="none">
              <a:solidFill>
                <a:srgbClr val="000000"/>
              </a:solidFill>
              <a:effectLst/>
              <a:uFillTx/>
              <a:latin typeface="Arial"/>
            </a:endParaRPr>
          </a:p>
        </p:txBody>
      </p:sp>
      <p:sp>
        <p:nvSpPr>
          <p:cNvPr id="299" name="Text 17"/>
          <p:cNvSpPr/>
          <p:nvPr/>
        </p:nvSpPr>
        <p:spPr>
          <a:xfrm>
            <a:off x="1307520" y="5256000"/>
            <a:ext cx="5767200" cy="85896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ffffff"/>
                </a:solidFill>
                <a:effectLst/>
                <a:uFillTx/>
                <a:latin typeface="MiSans"/>
                <a:ea typeface="MiSans"/>
              </a:rPr>
              <a:t>By month 48, we aim to achieve full ramp-up to 60,000 wafers per month, generating €6.7 billion in revenue and €2.4 billion in EBITDA in year 5.</a:t>
            </a:r>
            <a:endParaRPr b="0" lang="bg-BG"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0" name="Shape 0"/>
          <p:cNvSpPr/>
          <p:nvPr/>
        </p:nvSpPr>
        <p:spPr>
          <a:xfrm>
            <a:off x="0" y="-16560"/>
            <a:ext cx="12195360" cy="6880680"/>
          </a:xfrm>
          <a:prstGeom prst="rect">
            <a:avLst/>
          </a:prstGeom>
          <a:gradFill rotWithShape="0">
            <a:gsLst>
              <a:gs pos="0">
                <a:srgbClr val="f6f8fd"/>
              </a:gs>
              <a:gs pos="100000">
                <a:srgbClr val="bebebe"/>
              </a:gs>
            </a:gsLst>
            <a:lin ang="54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301" name="Text 1"/>
          <p:cNvSpPr/>
          <p:nvPr/>
        </p:nvSpPr>
        <p:spPr>
          <a:xfrm>
            <a:off x="0" y="-16560"/>
            <a:ext cx="12195360" cy="68806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302" name="Image 0" descr="https://kimi-img.moonshot.cn/pub/slides/slides_tmpl/image/25-08-27-19:57:52-d2nf5g18bjvh7rlivt90.png"/>
          <p:cNvPicPr/>
          <p:nvPr/>
        </p:nvPicPr>
        <p:blipFill>
          <a:blip r:embed="rId1"/>
          <a:srcRect l="20539" t="0" r="0" b="0"/>
          <a:stretch/>
        </p:blipFill>
        <p:spPr>
          <a:xfrm>
            <a:off x="1087200" y="-23400"/>
            <a:ext cx="3194280" cy="6857640"/>
          </a:xfrm>
          <a:prstGeom prst="rect">
            <a:avLst/>
          </a:prstGeom>
          <a:noFill/>
          <a:ln w="0">
            <a:noFill/>
          </a:ln>
        </p:spPr>
      </p:pic>
      <p:sp>
        <p:nvSpPr>
          <p:cNvPr id="303" name="Shape 2"/>
          <p:cNvSpPr/>
          <p:nvPr/>
        </p:nvSpPr>
        <p:spPr>
          <a:xfrm>
            <a:off x="5438880" y="-23400"/>
            <a:ext cx="6750360" cy="688104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304" name="Text 3"/>
          <p:cNvSpPr/>
          <p:nvPr/>
        </p:nvSpPr>
        <p:spPr>
          <a:xfrm>
            <a:off x="5438880" y="-23400"/>
            <a:ext cx="6750360" cy="68810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305" name="Text 4"/>
          <p:cNvSpPr/>
          <p:nvPr/>
        </p:nvSpPr>
        <p:spPr>
          <a:xfrm>
            <a:off x="6524640" y="4012560"/>
            <a:ext cx="4441320" cy="1381320"/>
          </a:xfrm>
          <a:prstGeom prst="rect">
            <a:avLst/>
          </a:prstGeom>
          <a:noFill/>
          <a:ln w="0">
            <a:noFill/>
          </a:ln>
        </p:spPr>
        <p:style>
          <a:lnRef idx="0"/>
          <a:fillRef idx="0"/>
          <a:effectRef idx="0"/>
          <a:fontRef idx="minor"/>
        </p:style>
        <p:txBody>
          <a:bodyPr anchor="t">
            <a:noAutofit/>
          </a:bodyPr>
          <a:p>
            <a:pPr algn="ctr">
              <a:lnSpc>
                <a:spcPct val="120000"/>
              </a:lnSpc>
              <a:tabLst>
                <a:tab algn="l" pos="0"/>
              </a:tabLst>
            </a:pPr>
            <a:r>
              <a:rPr b="0" lang="en-US" sz="3200" strike="noStrike" u="none">
                <a:solidFill>
                  <a:srgbClr val="ffffff"/>
                </a:solidFill>
                <a:effectLst/>
                <a:uFillTx/>
                <a:latin typeface="MiSans"/>
                <a:ea typeface="MiSans"/>
              </a:rPr>
              <a:t>Risk &amp; Governance</a:t>
            </a:r>
            <a:endParaRPr b="0" lang="bg-BG" sz="3200" strike="noStrike" u="none">
              <a:solidFill>
                <a:srgbClr val="000000"/>
              </a:solidFill>
              <a:effectLst/>
              <a:uFillTx/>
              <a:latin typeface="Arial"/>
            </a:endParaRPr>
          </a:p>
        </p:txBody>
      </p:sp>
      <p:sp>
        <p:nvSpPr>
          <p:cNvPr id="306" name="Text 5"/>
          <p:cNvSpPr/>
          <p:nvPr/>
        </p:nvSpPr>
        <p:spPr>
          <a:xfrm>
            <a:off x="7765560" y="1823040"/>
            <a:ext cx="1781280" cy="133056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0" lang="en-US" sz="9600" strike="noStrike" u="none">
                <a:solidFill>
                  <a:srgbClr val="ffffff"/>
                </a:solidFill>
                <a:effectLst/>
                <a:uFillTx/>
                <a:latin typeface="MiSans"/>
                <a:ea typeface="MiSans"/>
              </a:rPr>
              <a:t>06</a:t>
            </a:r>
            <a:endParaRPr b="0" lang="bg-BG" sz="9600" strike="noStrike" u="none">
              <a:solidFill>
                <a:srgbClr val="000000"/>
              </a:solidFill>
              <a:effectLst/>
              <a:uFillTx/>
              <a:latin typeface="Arial"/>
            </a:endParaRPr>
          </a:p>
        </p:txBody>
      </p:sp>
      <p:pic>
        <p:nvPicPr>
          <p:cNvPr id="307" name="Image 1" descr="https://kimi-img.moonshot.cn/pub/slides/slides_tmpl/image/25-08-27-19:57:52-d2nf5g18bjvh7rlivtag.png"/>
          <p:cNvPicPr/>
          <p:nvPr/>
        </p:nvPicPr>
        <p:blipFill>
          <a:blip r:embed="rId2"/>
          <a:stretch/>
        </p:blipFill>
        <p:spPr>
          <a:xfrm>
            <a:off x="1328400" y="2077200"/>
            <a:ext cx="2712240" cy="2669760"/>
          </a:xfrm>
          <a:prstGeom prst="rect">
            <a:avLst/>
          </a:prstGeom>
          <a:noFill/>
          <a:ln w="0">
            <a:noFill/>
          </a:ln>
        </p:spPr>
      </p:pic>
      <p:pic>
        <p:nvPicPr>
          <p:cNvPr id="308" name="Image 2" descr="https://kimi-img.moonshot.cn/pub/slides/slides_tmpl/image/25-08-27-19:57:52-d2nf5g18bjvh7rlivt9g.png"/>
          <p:cNvPicPr/>
          <p:nvPr/>
        </p:nvPicPr>
        <p:blipFill>
          <a:blip r:embed="rId3"/>
          <a:stretch/>
        </p:blipFill>
        <p:spPr>
          <a:xfrm>
            <a:off x="9546480" y="2077200"/>
            <a:ext cx="920520" cy="33480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9" name="Shape 0"/>
          <p:cNvSpPr/>
          <p:nvPr/>
        </p:nvSpPr>
        <p:spPr>
          <a:xfrm>
            <a:off x="0" y="6014880"/>
            <a:ext cx="12191760" cy="510840"/>
          </a:xfrm>
          <a:prstGeom prst="rect">
            <a:avLst/>
          </a:prstGeom>
          <a:gradFill rotWithShape="0">
            <a:gsLst>
              <a:gs pos="0">
                <a:srgbClr val="000000"/>
              </a:gs>
              <a:gs pos="54000">
                <a:srgbClr val="131313">
                  <a:alpha val="96000"/>
                </a:srgbClr>
              </a:gs>
              <a:gs pos="100000">
                <a:srgbClr val="262626">
                  <a:alpha val="88000"/>
                </a:srgbClr>
              </a:gs>
            </a:gsLst>
            <a:lin ang="168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310" name="Text 1"/>
          <p:cNvSpPr/>
          <p:nvPr/>
        </p:nvSpPr>
        <p:spPr>
          <a:xfrm>
            <a:off x="0" y="6014880"/>
            <a:ext cx="12191760" cy="5108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311" name="Shape 2"/>
          <p:cNvSpPr/>
          <p:nvPr/>
        </p:nvSpPr>
        <p:spPr>
          <a:xfrm>
            <a:off x="906480" y="1563840"/>
            <a:ext cx="360" cy="2261880"/>
          </a:xfrm>
          <a:prstGeom prst="line">
            <a:avLst/>
          </a:prstGeom>
          <a:ln w="6350">
            <a:solidFill>
              <a:srgbClr val="929e9e"/>
            </a:solidFill>
            <a:round/>
          </a:ln>
        </p:spPr>
        <p:style>
          <a:lnRef idx="0"/>
          <a:fillRef idx="0"/>
          <a:effectRef idx="0"/>
          <a:fontRef idx="minor"/>
        </p:style>
        <p:txBody>
          <a:bodyPr lIns="90000" rIns="90000" tIns="45000" bIns="45000" anchor="t" anchorCtr="1">
            <a:noAutofit/>
          </a:bodyPr>
          <a:p>
            <a:endParaRPr b="0" lang="bg-BG" sz="1800" strike="noStrike" u="none">
              <a:solidFill>
                <a:srgbClr val="000000"/>
              </a:solidFill>
              <a:effectLst/>
              <a:uFillTx/>
              <a:latin typeface="Arial"/>
            </a:endParaRPr>
          </a:p>
        </p:txBody>
      </p:sp>
      <p:sp>
        <p:nvSpPr>
          <p:cNvPr id="312" name="Shape 3"/>
          <p:cNvSpPr/>
          <p:nvPr/>
        </p:nvSpPr>
        <p:spPr>
          <a:xfrm>
            <a:off x="6006960" y="1568160"/>
            <a:ext cx="360" cy="2244960"/>
          </a:xfrm>
          <a:prstGeom prst="line">
            <a:avLst/>
          </a:prstGeom>
          <a:ln w="6350">
            <a:solidFill>
              <a:srgbClr val="929e9e"/>
            </a:solidFill>
            <a:round/>
          </a:ln>
        </p:spPr>
        <p:style>
          <a:lnRef idx="0"/>
          <a:fillRef idx="0"/>
          <a:effectRef idx="0"/>
          <a:fontRef idx="minor"/>
        </p:style>
        <p:txBody>
          <a:bodyPr lIns="90000" rIns="90000" tIns="45000" bIns="45000" anchor="t" anchorCtr="1">
            <a:noAutofit/>
          </a:bodyPr>
          <a:p>
            <a:endParaRPr b="0" lang="bg-BG" sz="1800" strike="noStrike" u="none">
              <a:solidFill>
                <a:srgbClr val="000000"/>
              </a:solidFill>
              <a:effectLst/>
              <a:uFillTx/>
              <a:latin typeface="Arial"/>
            </a:endParaRPr>
          </a:p>
        </p:txBody>
      </p:sp>
      <p:sp>
        <p:nvSpPr>
          <p:cNvPr id="313" name="Shape 4"/>
          <p:cNvSpPr/>
          <p:nvPr/>
        </p:nvSpPr>
        <p:spPr>
          <a:xfrm>
            <a:off x="349920" y="5738400"/>
            <a:ext cx="98280" cy="97920"/>
          </a:xfrm>
          <a:prstGeom prst="ellipse">
            <a:avLst/>
          </a:prstGeom>
          <a:solidFill>
            <a:srgbClr val="808080"/>
          </a:solidFill>
          <a:ln w="0">
            <a:noFill/>
          </a:ln>
        </p:spPr>
        <p:style>
          <a:lnRef idx="0"/>
          <a:fillRef idx="0"/>
          <a:effectRef idx="0"/>
          <a:fontRef idx="minor"/>
        </p:style>
        <p:txBody>
          <a:bodyPr lIns="90000" rIns="90000" tIns="24840" bIns="24840" anchor="t">
            <a:noAutofit/>
          </a:bodyPr>
          <a:p>
            <a:endParaRPr b="0" lang="bg-BG" sz="1800" strike="noStrike" u="none">
              <a:solidFill>
                <a:srgbClr val="ffffff"/>
              </a:solidFill>
              <a:effectLst/>
              <a:uFillTx/>
              <a:latin typeface="Arial"/>
            </a:endParaRPr>
          </a:p>
        </p:txBody>
      </p:sp>
      <p:sp>
        <p:nvSpPr>
          <p:cNvPr id="314" name="Text 5"/>
          <p:cNvSpPr/>
          <p:nvPr/>
        </p:nvSpPr>
        <p:spPr>
          <a:xfrm>
            <a:off x="349920" y="5738400"/>
            <a:ext cx="98280" cy="97920"/>
          </a:xfrm>
          <a:prstGeom prst="rect">
            <a:avLst/>
          </a:prstGeom>
          <a:noFill/>
          <a:ln w="0">
            <a:noFill/>
          </a:ln>
        </p:spPr>
        <p:style>
          <a:lnRef idx="0"/>
          <a:fillRef idx="0"/>
          <a:effectRef idx="0"/>
          <a:fontRef idx="minor"/>
        </p:style>
        <p:txBody>
          <a:bodyPr lIns="45720" tIns="72000" bIns="2628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315" name="Shape 6"/>
          <p:cNvSpPr/>
          <p:nvPr/>
        </p:nvSpPr>
        <p:spPr>
          <a:xfrm>
            <a:off x="508680" y="5738400"/>
            <a:ext cx="98280" cy="97920"/>
          </a:xfrm>
          <a:prstGeom prst="ellipse">
            <a:avLst/>
          </a:prstGeom>
          <a:solidFill>
            <a:srgbClr val="808080"/>
          </a:solidFill>
          <a:ln w="0">
            <a:noFill/>
          </a:ln>
        </p:spPr>
        <p:style>
          <a:lnRef idx="0"/>
          <a:fillRef idx="0"/>
          <a:effectRef idx="0"/>
          <a:fontRef idx="minor"/>
        </p:style>
        <p:txBody>
          <a:bodyPr lIns="90000" rIns="90000" tIns="24840" bIns="24840" anchor="t">
            <a:noAutofit/>
          </a:bodyPr>
          <a:p>
            <a:endParaRPr b="0" lang="bg-BG" sz="1800" strike="noStrike" u="none">
              <a:solidFill>
                <a:srgbClr val="ffffff"/>
              </a:solidFill>
              <a:effectLst/>
              <a:uFillTx/>
              <a:latin typeface="Arial"/>
            </a:endParaRPr>
          </a:p>
        </p:txBody>
      </p:sp>
      <p:sp>
        <p:nvSpPr>
          <p:cNvPr id="316" name="Text 7"/>
          <p:cNvSpPr/>
          <p:nvPr/>
        </p:nvSpPr>
        <p:spPr>
          <a:xfrm>
            <a:off x="508680" y="5738400"/>
            <a:ext cx="98280" cy="97920"/>
          </a:xfrm>
          <a:prstGeom prst="rect">
            <a:avLst/>
          </a:prstGeom>
          <a:noFill/>
          <a:ln w="0">
            <a:noFill/>
          </a:ln>
        </p:spPr>
        <p:style>
          <a:lnRef idx="0"/>
          <a:fillRef idx="0"/>
          <a:effectRef idx="0"/>
          <a:fontRef idx="minor"/>
        </p:style>
        <p:txBody>
          <a:bodyPr lIns="45720" tIns="72000" bIns="2628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317" name="Shape 8"/>
          <p:cNvSpPr/>
          <p:nvPr/>
        </p:nvSpPr>
        <p:spPr>
          <a:xfrm>
            <a:off x="667800" y="5738400"/>
            <a:ext cx="98280" cy="97920"/>
          </a:xfrm>
          <a:prstGeom prst="ellipse">
            <a:avLst/>
          </a:prstGeom>
          <a:solidFill>
            <a:srgbClr val="808080"/>
          </a:solidFill>
          <a:ln w="0">
            <a:noFill/>
          </a:ln>
        </p:spPr>
        <p:style>
          <a:lnRef idx="0"/>
          <a:fillRef idx="0"/>
          <a:effectRef idx="0"/>
          <a:fontRef idx="minor"/>
        </p:style>
        <p:txBody>
          <a:bodyPr lIns="90000" rIns="90000" tIns="24840" bIns="24840" anchor="t">
            <a:noAutofit/>
          </a:bodyPr>
          <a:p>
            <a:endParaRPr b="0" lang="bg-BG" sz="1800" strike="noStrike" u="none">
              <a:solidFill>
                <a:srgbClr val="ffffff"/>
              </a:solidFill>
              <a:effectLst/>
              <a:uFillTx/>
              <a:latin typeface="Arial"/>
            </a:endParaRPr>
          </a:p>
        </p:txBody>
      </p:sp>
      <p:sp>
        <p:nvSpPr>
          <p:cNvPr id="318" name="Text 9"/>
          <p:cNvSpPr/>
          <p:nvPr/>
        </p:nvSpPr>
        <p:spPr>
          <a:xfrm>
            <a:off x="667800" y="5738400"/>
            <a:ext cx="98280" cy="97920"/>
          </a:xfrm>
          <a:prstGeom prst="rect">
            <a:avLst/>
          </a:prstGeom>
          <a:noFill/>
          <a:ln w="0">
            <a:noFill/>
          </a:ln>
        </p:spPr>
        <p:style>
          <a:lnRef idx="0"/>
          <a:fillRef idx="0"/>
          <a:effectRef idx="0"/>
          <a:fontRef idx="minor"/>
        </p:style>
        <p:txBody>
          <a:bodyPr lIns="45720" tIns="72000" bIns="2628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319" name="Shape 10"/>
          <p:cNvSpPr/>
          <p:nvPr/>
        </p:nvSpPr>
        <p:spPr>
          <a:xfrm>
            <a:off x="1682640" y="3814200"/>
            <a:ext cx="360" cy="2121480"/>
          </a:xfrm>
          <a:prstGeom prst="line">
            <a:avLst/>
          </a:prstGeom>
          <a:ln w="6350">
            <a:solidFill>
              <a:srgbClr val="929e9e"/>
            </a:solidFill>
            <a:round/>
          </a:ln>
        </p:spPr>
        <p:style>
          <a:lnRef idx="0"/>
          <a:fillRef idx="0"/>
          <a:effectRef idx="0"/>
          <a:fontRef idx="minor"/>
        </p:style>
        <p:txBody>
          <a:bodyPr lIns="90000" rIns="90000" tIns="45000" bIns="45000" anchor="t" anchorCtr="1">
            <a:noAutofit/>
          </a:bodyPr>
          <a:p>
            <a:endParaRPr b="0" lang="bg-BG" sz="1800" strike="noStrike" u="none">
              <a:solidFill>
                <a:srgbClr val="000000"/>
              </a:solidFill>
              <a:effectLst/>
              <a:uFillTx/>
              <a:latin typeface="Arial"/>
            </a:endParaRPr>
          </a:p>
        </p:txBody>
      </p:sp>
      <p:sp>
        <p:nvSpPr>
          <p:cNvPr id="320" name="Shape 11"/>
          <p:cNvSpPr/>
          <p:nvPr/>
        </p:nvSpPr>
        <p:spPr>
          <a:xfrm>
            <a:off x="6751800" y="3814200"/>
            <a:ext cx="360" cy="2126160"/>
          </a:xfrm>
          <a:prstGeom prst="line">
            <a:avLst/>
          </a:prstGeom>
          <a:ln w="6350">
            <a:solidFill>
              <a:srgbClr val="929e9e"/>
            </a:solidFill>
            <a:round/>
          </a:ln>
        </p:spPr>
        <p:style>
          <a:lnRef idx="0"/>
          <a:fillRef idx="0"/>
          <a:effectRef idx="0"/>
          <a:fontRef idx="minor"/>
        </p:style>
        <p:txBody>
          <a:bodyPr lIns="90000" rIns="90000" tIns="45000" bIns="45000" anchor="t" anchorCtr="1">
            <a:noAutofit/>
          </a:bodyPr>
          <a:p>
            <a:endParaRPr b="0" lang="bg-BG" sz="1800" strike="noStrike" u="none">
              <a:solidFill>
                <a:srgbClr val="000000"/>
              </a:solidFill>
              <a:effectLst/>
              <a:uFillTx/>
              <a:latin typeface="Arial"/>
            </a:endParaRPr>
          </a:p>
        </p:txBody>
      </p:sp>
      <p:sp>
        <p:nvSpPr>
          <p:cNvPr id="321" name="Text 12"/>
          <p:cNvSpPr/>
          <p:nvPr/>
        </p:nvSpPr>
        <p:spPr>
          <a:xfrm>
            <a:off x="3712680" y="220320"/>
            <a:ext cx="4588200" cy="705600"/>
          </a:xfrm>
          <a:prstGeom prst="rect">
            <a:avLst/>
          </a:prstGeom>
          <a:noFill/>
          <a:ln w="0">
            <a:noFill/>
          </a:ln>
        </p:spPr>
        <p:style>
          <a:lnRef idx="0"/>
          <a:fillRef idx="0"/>
          <a:effectRef idx="0"/>
          <a:fontRef idx="minor"/>
        </p:style>
        <p:txBody>
          <a:bodyPr anchor="t">
            <a:noAutofit/>
          </a:bodyPr>
          <a:p>
            <a:pPr algn="ctr">
              <a:lnSpc>
                <a:spcPct val="120000"/>
              </a:lnSpc>
              <a:tabLst>
                <a:tab algn="l" pos="0"/>
              </a:tabLst>
            </a:pPr>
            <a:r>
              <a:rPr b="0" lang="en-US" sz="3200" strike="noStrike" u="none">
                <a:solidFill>
                  <a:srgbClr val="000000"/>
                </a:solidFill>
                <a:effectLst/>
                <a:uFillTx/>
                <a:latin typeface="MiSans"/>
                <a:ea typeface="MiSans"/>
              </a:rPr>
              <a:t>Key Risks &amp; Mitigations</a:t>
            </a:r>
            <a:endParaRPr b="0" lang="bg-BG" sz="3200" strike="noStrike" u="none">
              <a:solidFill>
                <a:srgbClr val="000000"/>
              </a:solidFill>
              <a:effectLst/>
              <a:uFillTx/>
              <a:latin typeface="Arial"/>
            </a:endParaRPr>
          </a:p>
        </p:txBody>
      </p:sp>
      <p:sp>
        <p:nvSpPr>
          <p:cNvPr id="322" name="Shape 13"/>
          <p:cNvSpPr/>
          <p:nvPr/>
        </p:nvSpPr>
        <p:spPr>
          <a:xfrm flipV="1">
            <a:off x="-5040" y="5943600"/>
            <a:ext cx="12212640" cy="2880"/>
          </a:xfrm>
          <a:prstGeom prst="line">
            <a:avLst/>
          </a:prstGeom>
          <a:ln w="6350">
            <a:solidFill>
              <a:srgbClr val="929e9e"/>
            </a:solidFill>
            <a:round/>
          </a:ln>
        </p:spPr>
        <p:style>
          <a:lnRef idx="0"/>
          <a:fillRef idx="0"/>
          <a:effectRef idx="0"/>
          <a:fontRef idx="minor"/>
        </p:style>
        <p:txBody>
          <a:bodyPr lIns="90000" rIns="90000" tIns="-42120" bIns="-42120" anchor="t" anchorCtr="1">
            <a:noAutofit/>
          </a:bodyPr>
          <a:p>
            <a:endParaRPr b="0" lang="bg-BG" sz="1800" strike="noStrike" u="none">
              <a:solidFill>
                <a:srgbClr val="000000"/>
              </a:solidFill>
              <a:effectLst/>
              <a:uFillTx/>
              <a:latin typeface="Arial"/>
            </a:endParaRPr>
          </a:p>
        </p:txBody>
      </p:sp>
      <p:sp>
        <p:nvSpPr>
          <p:cNvPr id="323" name="Shape 14"/>
          <p:cNvSpPr/>
          <p:nvPr/>
        </p:nvSpPr>
        <p:spPr>
          <a:xfrm>
            <a:off x="0" y="990000"/>
            <a:ext cx="12191760" cy="510840"/>
          </a:xfrm>
          <a:prstGeom prst="rect">
            <a:avLst/>
          </a:prstGeom>
          <a:gradFill rotWithShape="0">
            <a:gsLst>
              <a:gs pos="0">
                <a:srgbClr val="000000"/>
              </a:gs>
              <a:gs pos="54000">
                <a:srgbClr val="131313">
                  <a:alpha val="96000"/>
                </a:srgbClr>
              </a:gs>
              <a:gs pos="100000">
                <a:srgbClr val="262626">
                  <a:alpha val="88000"/>
                </a:srgbClr>
              </a:gs>
            </a:gsLst>
            <a:lin ang="16800000"/>
          </a:gradFill>
          <a:ln w="0">
            <a:noFill/>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324" name="Text 15"/>
          <p:cNvSpPr/>
          <p:nvPr/>
        </p:nvSpPr>
        <p:spPr>
          <a:xfrm>
            <a:off x="0" y="990000"/>
            <a:ext cx="12191760" cy="51084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325" name="Shape 16"/>
          <p:cNvSpPr/>
          <p:nvPr/>
        </p:nvSpPr>
        <p:spPr>
          <a:xfrm flipV="1">
            <a:off x="-5040" y="1564560"/>
            <a:ext cx="12212640" cy="3240"/>
          </a:xfrm>
          <a:prstGeom prst="line">
            <a:avLst/>
          </a:prstGeom>
          <a:ln w="6350">
            <a:solidFill>
              <a:srgbClr val="929e9e"/>
            </a:solidFill>
            <a:round/>
          </a:ln>
        </p:spPr>
        <p:style>
          <a:lnRef idx="0"/>
          <a:fillRef idx="0"/>
          <a:effectRef idx="0"/>
          <a:fontRef idx="minor"/>
        </p:style>
        <p:txBody>
          <a:bodyPr lIns="90000" rIns="90000" tIns="-41760" bIns="-41760" anchor="t" anchorCtr="1">
            <a:noAutofit/>
          </a:bodyPr>
          <a:p>
            <a:endParaRPr b="0" lang="bg-BG" sz="1800" strike="noStrike" u="none">
              <a:solidFill>
                <a:srgbClr val="000000"/>
              </a:solidFill>
              <a:effectLst/>
              <a:uFillTx/>
              <a:latin typeface="Arial"/>
            </a:endParaRPr>
          </a:p>
        </p:txBody>
      </p:sp>
      <p:sp>
        <p:nvSpPr>
          <p:cNvPr id="326" name="Shape 17"/>
          <p:cNvSpPr/>
          <p:nvPr/>
        </p:nvSpPr>
        <p:spPr>
          <a:xfrm flipV="1">
            <a:off x="-5040" y="3821400"/>
            <a:ext cx="12212640" cy="2880"/>
          </a:xfrm>
          <a:prstGeom prst="line">
            <a:avLst/>
          </a:prstGeom>
          <a:ln w="6350">
            <a:solidFill>
              <a:srgbClr val="929e9e"/>
            </a:solidFill>
            <a:round/>
          </a:ln>
        </p:spPr>
        <p:style>
          <a:lnRef idx="0"/>
          <a:fillRef idx="0"/>
          <a:effectRef idx="0"/>
          <a:fontRef idx="minor"/>
        </p:style>
        <p:txBody>
          <a:bodyPr lIns="90000" rIns="90000" tIns="-42120" bIns="-42120" anchor="t" anchorCtr="1">
            <a:noAutofit/>
          </a:bodyPr>
          <a:p>
            <a:endParaRPr b="0" lang="bg-BG" sz="1800" strike="noStrike" u="none">
              <a:solidFill>
                <a:srgbClr val="000000"/>
              </a:solidFill>
              <a:effectLst/>
              <a:uFillTx/>
              <a:latin typeface="Arial"/>
            </a:endParaRPr>
          </a:p>
        </p:txBody>
      </p:sp>
      <p:pic>
        <p:nvPicPr>
          <p:cNvPr id="327" name="Image 0" descr="https://kimi-img.moonshot.cn/pub/slides/slides_tmpl/image/25-08-27-19:57:59-d2nf5hp8bjvh7rlivu20.png"/>
          <p:cNvPicPr/>
          <p:nvPr/>
        </p:nvPicPr>
        <p:blipFill>
          <a:blip r:embed="rId1"/>
          <a:stretch/>
        </p:blipFill>
        <p:spPr>
          <a:xfrm>
            <a:off x="4859640" y="1694880"/>
            <a:ext cx="1164240" cy="731160"/>
          </a:xfrm>
          <a:prstGeom prst="rect">
            <a:avLst/>
          </a:prstGeom>
          <a:noFill/>
          <a:ln w="0">
            <a:noFill/>
          </a:ln>
        </p:spPr>
      </p:pic>
      <p:pic>
        <p:nvPicPr>
          <p:cNvPr id="328" name="Image 1" descr="https://kimi-img.moonshot.cn/pub/slides/slides_tmpl/image/25-08-27-19:57:59-d2nf5hp8bjvh7rlivu2g.png"/>
          <p:cNvPicPr/>
          <p:nvPr/>
        </p:nvPicPr>
        <p:blipFill>
          <a:blip r:embed="rId2"/>
          <a:stretch/>
        </p:blipFill>
        <p:spPr>
          <a:xfrm>
            <a:off x="9888840" y="1694880"/>
            <a:ext cx="1164240" cy="731160"/>
          </a:xfrm>
          <a:prstGeom prst="rect">
            <a:avLst/>
          </a:prstGeom>
          <a:noFill/>
          <a:ln w="0">
            <a:noFill/>
          </a:ln>
        </p:spPr>
      </p:pic>
      <p:pic>
        <p:nvPicPr>
          <p:cNvPr id="329" name="Image 2" descr="https://kimi-img.moonshot.cn/pub/slides/slides_tmpl/image/25-08-27-19:57:59-d2nf5hp8bjvh7rlivu30.png"/>
          <p:cNvPicPr/>
          <p:nvPr/>
        </p:nvPicPr>
        <p:blipFill>
          <a:blip r:embed="rId3"/>
          <a:stretch/>
        </p:blipFill>
        <p:spPr>
          <a:xfrm>
            <a:off x="5571000" y="3942720"/>
            <a:ext cx="1164240" cy="731160"/>
          </a:xfrm>
          <a:prstGeom prst="rect">
            <a:avLst/>
          </a:prstGeom>
          <a:noFill/>
          <a:ln w="0">
            <a:noFill/>
          </a:ln>
        </p:spPr>
      </p:pic>
      <p:pic>
        <p:nvPicPr>
          <p:cNvPr id="330" name="Image 3" descr="https://kimi-img.moonshot.cn/pub/slides/slides_tmpl/image/25-08-27-19:57:59-d2nf5hp8bjvh7rlivu40.png"/>
          <p:cNvPicPr/>
          <p:nvPr/>
        </p:nvPicPr>
        <p:blipFill>
          <a:blip r:embed="rId4"/>
          <a:stretch/>
        </p:blipFill>
        <p:spPr>
          <a:xfrm>
            <a:off x="10605600" y="3942720"/>
            <a:ext cx="1164240" cy="731160"/>
          </a:xfrm>
          <a:prstGeom prst="rect">
            <a:avLst/>
          </a:prstGeom>
          <a:noFill/>
          <a:ln w="0">
            <a:noFill/>
          </a:ln>
        </p:spPr>
      </p:pic>
      <p:sp>
        <p:nvSpPr>
          <p:cNvPr id="331" name="Text 18"/>
          <p:cNvSpPr/>
          <p:nvPr/>
        </p:nvSpPr>
        <p:spPr>
          <a:xfrm>
            <a:off x="1155240" y="1770840"/>
            <a:ext cx="2751120" cy="57132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Supply Chain Risks</a:t>
            </a:r>
            <a:endParaRPr b="0" lang="bg-BG" sz="1800" strike="noStrike" u="none">
              <a:solidFill>
                <a:srgbClr val="000000"/>
              </a:solidFill>
              <a:effectLst/>
              <a:uFillTx/>
              <a:latin typeface="Arial"/>
            </a:endParaRPr>
          </a:p>
        </p:txBody>
      </p:sp>
      <p:sp>
        <p:nvSpPr>
          <p:cNvPr id="332" name="Text 19"/>
          <p:cNvSpPr/>
          <p:nvPr/>
        </p:nvSpPr>
        <p:spPr>
          <a:xfrm>
            <a:off x="1155240" y="2360160"/>
            <a:ext cx="4588200" cy="137160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Mitigate supply-chain delays by dual sourcing EUV parts, ensuring continuous production and reducing dependency on single suppliers. Securing backup sand harvesting plants in Sunny beach for highly motivating working benefits for young partners.</a:t>
            </a:r>
            <a:endParaRPr b="0" lang="bg-BG" sz="1400" strike="noStrike" u="none">
              <a:solidFill>
                <a:srgbClr val="000000"/>
              </a:solidFill>
              <a:effectLst/>
              <a:uFillTx/>
              <a:latin typeface="Arial"/>
            </a:endParaRPr>
          </a:p>
        </p:txBody>
      </p:sp>
      <p:sp>
        <p:nvSpPr>
          <p:cNvPr id="333" name="Text 20"/>
          <p:cNvSpPr/>
          <p:nvPr/>
        </p:nvSpPr>
        <p:spPr>
          <a:xfrm>
            <a:off x="6255360" y="1770840"/>
            <a:ext cx="2751120" cy="57132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Yield Risks</a:t>
            </a:r>
            <a:endParaRPr b="0" lang="bg-BG" sz="1800" strike="noStrike" u="none">
              <a:solidFill>
                <a:srgbClr val="000000"/>
              </a:solidFill>
              <a:effectLst/>
              <a:uFillTx/>
              <a:latin typeface="Arial"/>
            </a:endParaRPr>
          </a:p>
        </p:txBody>
      </p:sp>
      <p:sp>
        <p:nvSpPr>
          <p:cNvPr id="334" name="Text 21"/>
          <p:cNvSpPr/>
          <p:nvPr/>
        </p:nvSpPr>
        <p:spPr>
          <a:xfrm>
            <a:off x="6255360" y="2359800"/>
            <a:ext cx="4588200" cy="111564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Offset yield risks through INZAIT’s digital twin technology and the Tera AI Factory, which provides advanced simulation and verification capabilities, secured with a private 300 MW</a:t>
            </a:r>
            <a:r>
              <a:rPr b="0" lang="en-US" sz="1400" strike="noStrike" u="none">
                <a:solidFill>
                  <a:srgbClr val="000000"/>
                </a:solidFill>
                <a:effectLst/>
                <a:uFillTx/>
                <a:latin typeface="MiSans"/>
                <a:ea typeface="MiSans"/>
              </a:rPr>
              <a:t> power plant.</a:t>
            </a:r>
            <a:endParaRPr b="0" lang="bg-BG" sz="1400" strike="noStrike" u="none">
              <a:solidFill>
                <a:srgbClr val="000000"/>
              </a:solidFill>
              <a:effectLst/>
              <a:uFillTx/>
              <a:latin typeface="Arial"/>
            </a:endParaRPr>
          </a:p>
        </p:txBody>
      </p:sp>
      <p:sp>
        <p:nvSpPr>
          <p:cNvPr id="335" name="Text 22"/>
          <p:cNvSpPr/>
          <p:nvPr/>
        </p:nvSpPr>
        <p:spPr>
          <a:xfrm>
            <a:off x="1931040" y="4011840"/>
            <a:ext cx="2751120" cy="57132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Geopolitical Risks</a:t>
            </a:r>
            <a:endParaRPr b="0" lang="bg-BG" sz="1800" strike="noStrike" u="none">
              <a:solidFill>
                <a:srgbClr val="000000"/>
              </a:solidFill>
              <a:effectLst/>
              <a:uFillTx/>
              <a:latin typeface="Arial"/>
            </a:endParaRPr>
          </a:p>
        </p:txBody>
      </p:sp>
      <p:sp>
        <p:nvSpPr>
          <p:cNvPr id="336" name="Text 23"/>
          <p:cNvSpPr/>
          <p:nvPr/>
        </p:nvSpPr>
        <p:spPr>
          <a:xfrm>
            <a:off x="1931040" y="4601160"/>
            <a:ext cx="4588200" cy="111492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Handle geopolitical uncertainties with a NATO IP vault, ensuring the security and protection of intellectual property. A custom military base to protect the factory will secure another 2 billion dollars in investments.</a:t>
            </a:r>
            <a:endParaRPr b="0" lang="bg-BG" sz="1400" strike="noStrike" u="none">
              <a:solidFill>
                <a:srgbClr val="000000"/>
              </a:solidFill>
              <a:effectLst/>
              <a:uFillTx/>
              <a:latin typeface="Arial"/>
            </a:endParaRPr>
          </a:p>
        </p:txBody>
      </p:sp>
      <p:sp>
        <p:nvSpPr>
          <p:cNvPr id="337" name="Text 24"/>
          <p:cNvSpPr/>
          <p:nvPr/>
        </p:nvSpPr>
        <p:spPr>
          <a:xfrm>
            <a:off x="7000200" y="4019040"/>
            <a:ext cx="2751120" cy="571320"/>
          </a:xfrm>
          <a:prstGeom prst="rect">
            <a:avLst/>
          </a:prstGeom>
          <a:noFill/>
          <a:ln w="0">
            <a:noFill/>
          </a:ln>
        </p:spPr>
        <p:style>
          <a:lnRef idx="0"/>
          <a:fillRef idx="0"/>
          <a:effectRef idx="0"/>
          <a:fontRef idx="minor"/>
        </p:style>
        <p:txBody>
          <a:bodyPr anchor="ctr">
            <a:noAutofit/>
          </a:bodyPr>
          <a:p>
            <a:pPr>
              <a:lnSpc>
                <a:spcPct val="120000"/>
              </a:lnSpc>
              <a:tabLst>
                <a:tab algn="l" pos="0"/>
              </a:tabLst>
            </a:pPr>
            <a:r>
              <a:rPr b="1" lang="en-US" sz="1800" strike="noStrike" u="none">
                <a:solidFill>
                  <a:srgbClr val="000000"/>
                </a:solidFill>
                <a:effectLst/>
                <a:uFillTx/>
                <a:latin typeface="MiSans"/>
                <a:ea typeface="MiSans"/>
              </a:rPr>
              <a:t>Talent Gap</a:t>
            </a:r>
            <a:endParaRPr b="0" lang="bg-BG" sz="1800" strike="noStrike" u="none">
              <a:solidFill>
                <a:srgbClr val="000000"/>
              </a:solidFill>
              <a:effectLst/>
              <a:uFillTx/>
              <a:latin typeface="Arial"/>
            </a:endParaRPr>
          </a:p>
        </p:txBody>
      </p:sp>
      <p:sp>
        <p:nvSpPr>
          <p:cNvPr id="338" name="Text 25"/>
          <p:cNvSpPr/>
          <p:nvPr/>
        </p:nvSpPr>
        <p:spPr>
          <a:xfrm>
            <a:off x="7000200" y="4608360"/>
            <a:ext cx="4588200" cy="111492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000000"/>
                </a:solidFill>
                <a:effectLst/>
                <a:uFillTx/>
                <a:latin typeface="MiSans"/>
                <a:ea typeface="MiSans"/>
              </a:rPr>
              <a:t>Close the talent gap by offering 500 scholarships per year and tax-free relocation packages to attract and retain the best skilled professionals – both local and international.</a:t>
            </a:r>
            <a:endParaRPr b="0" lang="bg-BG"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9" name="Shape 0"/>
          <p:cNvSpPr/>
          <p:nvPr/>
        </p:nvSpPr>
        <p:spPr>
          <a:xfrm>
            <a:off x="-10080" y="-23400"/>
            <a:ext cx="12195360" cy="6880680"/>
          </a:xfrm>
          <a:prstGeom prst="rect">
            <a:avLst/>
          </a:prstGeom>
          <a:solidFill>
            <a:srgbClr val="000000"/>
          </a:solidFill>
          <a:ln w="0">
            <a:noFill/>
          </a:ln>
        </p:spPr>
        <p:style>
          <a:lnRef idx="0"/>
          <a:fillRef idx="0"/>
          <a:effectRef idx="0"/>
          <a:fontRef idx="minor"/>
        </p:style>
        <p:txBody>
          <a:bodyPr lIns="90000" rIns="90000" tIns="45000" bIns="45000" anchor="t">
            <a:noAutofit/>
          </a:bodyPr>
          <a:p>
            <a:endParaRPr b="0" lang="bg-BG" sz="1800" strike="noStrike" u="none">
              <a:solidFill>
                <a:srgbClr val="ffffff"/>
              </a:solidFill>
              <a:effectLst/>
              <a:uFillTx/>
              <a:latin typeface="Arial"/>
            </a:endParaRPr>
          </a:p>
        </p:txBody>
      </p:sp>
      <p:sp>
        <p:nvSpPr>
          <p:cNvPr id="340" name="Text 1"/>
          <p:cNvSpPr/>
          <p:nvPr/>
        </p:nvSpPr>
        <p:spPr>
          <a:xfrm>
            <a:off x="-10080" y="-23400"/>
            <a:ext cx="12195360" cy="688068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pic>
        <p:nvPicPr>
          <p:cNvPr id="341" name="Image 0" descr="https://kimi-img.moonshot.cn/pub/slides/slides_tmpl/image/25-08-27-19:57:59-d2nf5hp8bjvh7rlivu0g.png"/>
          <p:cNvPicPr/>
          <p:nvPr/>
        </p:nvPicPr>
        <p:blipFill>
          <a:blip r:embed="rId1"/>
          <a:stretch/>
        </p:blipFill>
        <p:spPr>
          <a:xfrm>
            <a:off x="0" y="-27360"/>
            <a:ext cx="12191760" cy="6884280"/>
          </a:xfrm>
          <a:prstGeom prst="rect">
            <a:avLst/>
          </a:prstGeom>
          <a:noFill/>
          <a:ln w="0">
            <a:noFill/>
          </a:ln>
        </p:spPr>
      </p:pic>
      <p:sp>
        <p:nvSpPr>
          <p:cNvPr id="342" name="Shape 2"/>
          <p:cNvSpPr/>
          <p:nvPr/>
        </p:nvSpPr>
        <p:spPr>
          <a:xfrm>
            <a:off x="-5760" y="-14040"/>
            <a:ext cx="8059680" cy="2070360"/>
          </a:xfrm>
          <a:prstGeom prst="rect">
            <a:avLst/>
          </a:prstGeom>
          <a:solidFill>
            <a:srgbClr val="ffffff"/>
          </a:solidFill>
          <a:ln w="19050">
            <a:solidFill>
              <a:srgbClr val="000000"/>
            </a:solidFill>
            <a:round/>
          </a:ln>
        </p:spPr>
        <p:style>
          <a:lnRef idx="0"/>
          <a:fillRef idx="0"/>
          <a:effectRef idx="0"/>
          <a:fontRef idx="minor"/>
        </p:style>
        <p:txBody>
          <a:bodyPr lIns="90000" rIns="90000" tIns="45000" bIns="45000" anchor="t">
            <a:noAutofit/>
          </a:bodyPr>
          <a:p>
            <a:endParaRPr b="0" lang="bg-BG" sz="1800" strike="noStrike" u="none">
              <a:solidFill>
                <a:srgbClr val="000000"/>
              </a:solidFill>
              <a:effectLst/>
              <a:uFillTx/>
              <a:latin typeface="Arial"/>
            </a:endParaRPr>
          </a:p>
        </p:txBody>
      </p:sp>
      <p:sp>
        <p:nvSpPr>
          <p:cNvPr id="343" name="Text 3"/>
          <p:cNvSpPr/>
          <p:nvPr/>
        </p:nvSpPr>
        <p:spPr>
          <a:xfrm>
            <a:off x="-5760" y="-14040"/>
            <a:ext cx="8059680" cy="2070360"/>
          </a:xfrm>
          <a:prstGeom prst="rect">
            <a:avLst/>
          </a:prstGeom>
          <a:noFill/>
          <a:ln w="0">
            <a:noFill/>
          </a:ln>
        </p:spPr>
        <p:style>
          <a:lnRef idx="0"/>
          <a:fillRef idx="0"/>
          <a:effectRef idx="0"/>
          <a:fontRef idx="minor"/>
        </p:style>
        <p:txBody>
          <a:bodyPr lIns="45720" tIns="91440" anchor="ctr">
            <a:noAutofit/>
          </a:bodyPr>
          <a:p>
            <a:pPr>
              <a:lnSpc>
                <a:spcPct val="100000"/>
              </a:lnSpc>
              <a:tabLst>
                <a:tab algn="l" pos="0"/>
              </a:tabLst>
            </a:pPr>
            <a:endParaRPr b="0" lang="en-US" sz="1600" strike="noStrike" u="none">
              <a:solidFill>
                <a:srgbClr val="000000"/>
              </a:solidFill>
              <a:effectLst/>
              <a:uFillTx/>
              <a:latin typeface="Arial"/>
            </a:endParaRPr>
          </a:p>
        </p:txBody>
      </p:sp>
      <p:sp>
        <p:nvSpPr>
          <p:cNvPr id="344" name="Text 4"/>
          <p:cNvSpPr/>
          <p:nvPr/>
        </p:nvSpPr>
        <p:spPr>
          <a:xfrm>
            <a:off x="970200" y="749160"/>
            <a:ext cx="6490440" cy="898200"/>
          </a:xfrm>
          <a:prstGeom prst="rect">
            <a:avLst/>
          </a:prstGeom>
          <a:noFill/>
          <a:ln w="0">
            <a:noFill/>
          </a:ln>
        </p:spPr>
        <p:style>
          <a:lnRef idx="0"/>
          <a:fillRef idx="0"/>
          <a:effectRef idx="0"/>
          <a:fontRef idx="minor"/>
        </p:style>
        <p:txBody>
          <a:bodyPr anchor="t">
            <a:noAutofit/>
          </a:bodyPr>
          <a:p>
            <a:pPr>
              <a:lnSpc>
                <a:spcPct val="120000"/>
              </a:lnSpc>
              <a:tabLst>
                <a:tab algn="l" pos="0"/>
              </a:tabLst>
            </a:pPr>
            <a:r>
              <a:rPr b="0" lang="en-US" sz="3200" strike="noStrike" u="none">
                <a:solidFill>
                  <a:srgbClr val="000000"/>
                </a:solidFill>
                <a:effectLst/>
                <a:uFillTx/>
                <a:latin typeface="MiSans"/>
                <a:ea typeface="MiSans"/>
              </a:rPr>
              <a:t>Ministerial &amp; Leadership Board</a:t>
            </a:r>
            <a:endParaRPr b="0" lang="bg-BG" sz="3200" strike="noStrike" u="none">
              <a:solidFill>
                <a:srgbClr val="000000"/>
              </a:solidFill>
              <a:effectLst/>
              <a:uFillTx/>
              <a:latin typeface="Arial"/>
            </a:endParaRPr>
          </a:p>
        </p:txBody>
      </p:sp>
      <p:pic>
        <p:nvPicPr>
          <p:cNvPr id="345" name="Image 1" descr="https://kimi-img.moonshot.cn/pub/slides/slides_tmpl/image/25-08-27-19:57:58-d2nf5hh8bjvh7rlivtt0.jpg"/>
          <p:cNvPicPr/>
          <p:nvPr/>
        </p:nvPicPr>
        <p:blipFill>
          <a:blip r:embed="rId2"/>
          <a:stretch/>
        </p:blipFill>
        <p:spPr>
          <a:xfrm>
            <a:off x="7973640" y="-43200"/>
            <a:ext cx="4218120" cy="2127600"/>
          </a:xfrm>
          <a:prstGeom prst="rect">
            <a:avLst/>
          </a:prstGeom>
          <a:noFill/>
          <a:ln w="0">
            <a:noFill/>
          </a:ln>
        </p:spPr>
      </p:pic>
      <p:pic>
        <p:nvPicPr>
          <p:cNvPr id="346" name="Image 2" descr="https://kimi-img.moonshot.cn/pub/slides/slides_tmpl/image/25-08-27-19:57:58-d2nf5hh8bjvh7rlivttg.png"/>
          <p:cNvPicPr/>
          <p:nvPr/>
        </p:nvPicPr>
        <p:blipFill>
          <a:blip r:embed="rId3"/>
          <a:stretch/>
        </p:blipFill>
        <p:spPr>
          <a:xfrm>
            <a:off x="8719920" y="2460600"/>
            <a:ext cx="2109240" cy="1456200"/>
          </a:xfrm>
          <a:prstGeom prst="rect">
            <a:avLst/>
          </a:prstGeom>
          <a:noFill/>
          <a:ln w="0">
            <a:noFill/>
          </a:ln>
        </p:spPr>
      </p:pic>
      <p:pic>
        <p:nvPicPr>
          <p:cNvPr id="347" name="Image 3" descr="https://kimi-img.moonshot.cn/pub/slides/slides_tmpl/image/25-08-27-19:57:58-d2nf5hh8bjvh7rlivtu0.png"/>
          <p:cNvPicPr/>
          <p:nvPr/>
        </p:nvPicPr>
        <p:blipFill>
          <a:blip r:embed="rId4"/>
          <a:stretch/>
        </p:blipFill>
        <p:spPr>
          <a:xfrm>
            <a:off x="1368360" y="2460600"/>
            <a:ext cx="2109240" cy="1456200"/>
          </a:xfrm>
          <a:prstGeom prst="rect">
            <a:avLst/>
          </a:prstGeom>
          <a:noFill/>
          <a:ln w="0">
            <a:noFill/>
          </a:ln>
        </p:spPr>
      </p:pic>
      <p:pic>
        <p:nvPicPr>
          <p:cNvPr id="348" name="Image 4" descr="https://kimi-img.moonshot.cn/pub/slides/slides_tmpl/image/25-08-27-19:57:58-d2nf5hh8bjvh7rlivtug.png"/>
          <p:cNvPicPr/>
          <p:nvPr/>
        </p:nvPicPr>
        <p:blipFill>
          <a:blip r:embed="rId5"/>
          <a:stretch/>
        </p:blipFill>
        <p:spPr>
          <a:xfrm>
            <a:off x="5064120" y="2460600"/>
            <a:ext cx="2109240" cy="1456200"/>
          </a:xfrm>
          <a:prstGeom prst="rect">
            <a:avLst/>
          </a:prstGeom>
          <a:noFill/>
          <a:ln w="0">
            <a:noFill/>
          </a:ln>
        </p:spPr>
      </p:pic>
      <p:sp>
        <p:nvSpPr>
          <p:cNvPr id="349" name="Shape 5"/>
          <p:cNvSpPr/>
          <p:nvPr/>
        </p:nvSpPr>
        <p:spPr>
          <a:xfrm>
            <a:off x="794880" y="4195800"/>
            <a:ext cx="3771360" cy="360"/>
          </a:xfrm>
          <a:prstGeom prst="line">
            <a:avLst/>
          </a:prstGeom>
          <a:ln w="3175">
            <a:solidFill>
              <a:srgbClr val="595959"/>
            </a:solidFill>
            <a:round/>
          </a:ln>
        </p:spPr>
        <p:style>
          <a:lnRef idx="0"/>
          <a:fillRef idx="0"/>
          <a:effectRef idx="0"/>
          <a:fontRef idx="minor"/>
        </p:style>
        <p:txBody>
          <a:bodyPr lIns="90000" rIns="90000" tIns="-44640" bIns="-44640" anchor="t" anchorCtr="1">
            <a:noAutofit/>
          </a:bodyPr>
          <a:p>
            <a:endParaRPr b="0" lang="bg-BG" sz="1800" strike="noStrike" u="none">
              <a:solidFill>
                <a:srgbClr val="000000"/>
              </a:solidFill>
              <a:effectLst/>
              <a:uFillTx/>
              <a:latin typeface="Arial"/>
            </a:endParaRPr>
          </a:p>
        </p:txBody>
      </p:sp>
      <p:sp>
        <p:nvSpPr>
          <p:cNvPr id="350" name="Shape 6"/>
          <p:cNvSpPr/>
          <p:nvPr/>
        </p:nvSpPr>
        <p:spPr>
          <a:xfrm>
            <a:off x="4498920" y="4195800"/>
            <a:ext cx="3926160" cy="360"/>
          </a:xfrm>
          <a:prstGeom prst="line">
            <a:avLst/>
          </a:prstGeom>
          <a:ln w="3175">
            <a:solidFill>
              <a:srgbClr val="595959"/>
            </a:solidFill>
            <a:round/>
          </a:ln>
        </p:spPr>
        <p:style>
          <a:lnRef idx="0"/>
          <a:fillRef idx="0"/>
          <a:effectRef idx="0"/>
          <a:fontRef idx="minor"/>
        </p:style>
        <p:txBody>
          <a:bodyPr lIns="90000" rIns="90000" tIns="-44640" bIns="-44640" anchor="t" anchorCtr="1">
            <a:noAutofit/>
          </a:bodyPr>
          <a:p>
            <a:endParaRPr b="0" lang="bg-BG" sz="1800" strike="noStrike" u="none">
              <a:solidFill>
                <a:srgbClr val="000000"/>
              </a:solidFill>
              <a:effectLst/>
              <a:uFillTx/>
              <a:latin typeface="Arial"/>
            </a:endParaRPr>
          </a:p>
        </p:txBody>
      </p:sp>
      <p:sp>
        <p:nvSpPr>
          <p:cNvPr id="351" name="Shape 7"/>
          <p:cNvSpPr/>
          <p:nvPr/>
        </p:nvSpPr>
        <p:spPr>
          <a:xfrm>
            <a:off x="8101080" y="4195800"/>
            <a:ext cx="3911760" cy="360"/>
          </a:xfrm>
          <a:prstGeom prst="line">
            <a:avLst/>
          </a:prstGeom>
          <a:ln w="3175">
            <a:solidFill>
              <a:srgbClr val="595959"/>
            </a:solidFill>
            <a:round/>
          </a:ln>
        </p:spPr>
        <p:style>
          <a:lnRef idx="0"/>
          <a:fillRef idx="0"/>
          <a:effectRef idx="0"/>
          <a:fontRef idx="minor"/>
        </p:style>
        <p:txBody>
          <a:bodyPr lIns="90000" rIns="90000" tIns="-44640" bIns="-44640" anchor="t" anchorCtr="1">
            <a:noAutofit/>
          </a:bodyPr>
          <a:p>
            <a:endParaRPr b="0" lang="bg-BG" sz="1800" strike="noStrike" u="none">
              <a:solidFill>
                <a:srgbClr val="000000"/>
              </a:solidFill>
              <a:effectLst/>
              <a:uFillTx/>
              <a:latin typeface="Arial"/>
            </a:endParaRPr>
          </a:p>
        </p:txBody>
      </p:sp>
      <p:sp>
        <p:nvSpPr>
          <p:cNvPr id="352" name="Text 8"/>
          <p:cNvSpPr/>
          <p:nvPr/>
        </p:nvSpPr>
        <p:spPr>
          <a:xfrm>
            <a:off x="927720" y="3401640"/>
            <a:ext cx="3171600" cy="808560"/>
          </a:xfrm>
          <a:prstGeom prst="rect">
            <a:avLst/>
          </a:prstGeom>
          <a:noFill/>
          <a:ln w="0">
            <a:noFill/>
          </a:ln>
        </p:spPr>
        <p:style>
          <a:lnRef idx="0"/>
          <a:fillRef idx="0"/>
          <a:effectRef idx="0"/>
          <a:fontRef idx="minor"/>
        </p:style>
        <p:txBody>
          <a:bodyPr anchor="ctr">
            <a:noAutofit/>
          </a:bodyPr>
          <a:p>
            <a:pPr algn="ctr">
              <a:lnSpc>
                <a:spcPct val="120000"/>
              </a:lnSpc>
              <a:tabLst>
                <a:tab algn="l" pos="0"/>
              </a:tabLst>
            </a:pPr>
            <a:r>
              <a:rPr b="1" lang="en-US" sz="1800" strike="noStrike" u="none">
                <a:solidFill>
                  <a:srgbClr val="ffffff"/>
                </a:solidFill>
                <a:effectLst/>
                <a:uFillTx/>
                <a:latin typeface="MiSans"/>
                <a:ea typeface="MiSans"/>
              </a:rPr>
              <a:t>Board Structure</a:t>
            </a:r>
            <a:endParaRPr b="0" lang="bg-BG" sz="1800" strike="noStrike" u="none">
              <a:solidFill>
                <a:srgbClr val="000000"/>
              </a:solidFill>
              <a:effectLst/>
              <a:uFillTx/>
              <a:latin typeface="Arial"/>
            </a:endParaRPr>
          </a:p>
        </p:txBody>
      </p:sp>
      <p:sp>
        <p:nvSpPr>
          <p:cNvPr id="353" name="Text 9"/>
          <p:cNvSpPr/>
          <p:nvPr/>
        </p:nvSpPr>
        <p:spPr>
          <a:xfrm>
            <a:off x="744840" y="4321080"/>
            <a:ext cx="3579840" cy="188280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ffffff"/>
                </a:solidFill>
                <a:effectLst/>
                <a:uFillTx/>
                <a:latin typeface="MiSans"/>
                <a:ea typeface="MiSans"/>
              </a:rPr>
              <a:t>The board will be chaired jointly by the Deputy Prime Minister for EU Funds, </a:t>
            </a:r>
            <a:r>
              <a:rPr b="1" lang="en-US" sz="1400" strike="noStrike" u="none">
                <a:solidFill>
                  <a:srgbClr val="ffffff"/>
                </a:solidFill>
                <a:effectLst/>
                <a:uFillTx/>
                <a:latin typeface="MiSans"/>
                <a:ea typeface="MiSans"/>
              </a:rPr>
              <a:t>The</a:t>
            </a:r>
            <a:r>
              <a:rPr b="0" lang="en-US" sz="1400" strike="noStrike" u="none">
                <a:solidFill>
                  <a:srgbClr val="ffffff"/>
                </a:solidFill>
                <a:effectLst/>
                <a:uFillTx/>
                <a:latin typeface="MiSans"/>
                <a:ea typeface="MiSans"/>
              </a:rPr>
              <a:t> </a:t>
            </a:r>
            <a:r>
              <a:rPr b="1" lang="en-US" sz="1400" strike="noStrike" u="none">
                <a:solidFill>
                  <a:srgbClr val="ffffff"/>
                </a:solidFill>
                <a:effectLst/>
                <a:uFillTx/>
                <a:latin typeface="MiSans"/>
                <a:ea typeface="MiSans"/>
              </a:rPr>
              <a:t>Sacred Computer’s </a:t>
            </a:r>
            <a:r>
              <a:rPr b="0" lang="en-US" sz="1400" strike="noStrike" u="none">
                <a:solidFill>
                  <a:srgbClr val="ffffff"/>
                </a:solidFill>
                <a:effectLst/>
                <a:uFillTx/>
                <a:latin typeface="MiSans"/>
                <a:ea typeface="MiSans"/>
              </a:rPr>
              <a:t>AGI institute’s director, the architect of </a:t>
            </a:r>
            <a:r>
              <a:rPr b="1" lang="en-US" sz="1400" strike="noStrike" u="none">
                <a:solidFill>
                  <a:srgbClr val="ffffff"/>
                </a:solidFill>
                <a:effectLst/>
                <a:uFillTx/>
                <a:latin typeface="MiSans"/>
                <a:ea typeface="MiSans"/>
              </a:rPr>
              <a:t>INZAIT</a:t>
            </a:r>
            <a:r>
              <a:rPr b="0" lang="en-US" sz="1400" strike="noStrike" u="none">
                <a:solidFill>
                  <a:srgbClr val="ffffff"/>
                </a:solidFill>
                <a:effectLst/>
                <a:uFillTx/>
                <a:latin typeface="MiSans"/>
                <a:ea typeface="MiSans"/>
              </a:rPr>
              <a:t>, and ex-</a:t>
            </a:r>
            <a:r>
              <a:rPr b="1" lang="en-US" sz="1400" strike="noStrike" u="none">
                <a:solidFill>
                  <a:srgbClr val="ffffff"/>
                </a:solidFill>
                <a:effectLst/>
                <a:uFillTx/>
                <a:latin typeface="MiSans"/>
                <a:ea typeface="MiSans"/>
              </a:rPr>
              <a:t>TSMC</a:t>
            </a:r>
            <a:r>
              <a:rPr b="0" lang="en-US" sz="1400" strike="noStrike" u="none">
                <a:solidFill>
                  <a:srgbClr val="ffffff"/>
                </a:solidFill>
                <a:effectLst/>
                <a:uFillTx/>
                <a:latin typeface="MiSans"/>
                <a:ea typeface="MiSans"/>
              </a:rPr>
              <a:t> VP Ops, ensuring strong leadership and governance, with world class visionary services.</a:t>
            </a:r>
            <a:endParaRPr b="0" lang="bg-BG" sz="1400" strike="noStrike" u="none">
              <a:solidFill>
                <a:srgbClr val="000000"/>
              </a:solidFill>
              <a:effectLst/>
              <a:uFillTx/>
              <a:latin typeface="Arial"/>
            </a:endParaRPr>
          </a:p>
        </p:txBody>
      </p:sp>
      <p:sp>
        <p:nvSpPr>
          <p:cNvPr id="354" name="Text 10"/>
          <p:cNvSpPr/>
          <p:nvPr/>
        </p:nvSpPr>
        <p:spPr>
          <a:xfrm>
            <a:off x="4610880" y="3401640"/>
            <a:ext cx="3171600" cy="808560"/>
          </a:xfrm>
          <a:prstGeom prst="rect">
            <a:avLst/>
          </a:prstGeom>
          <a:noFill/>
          <a:ln w="0">
            <a:noFill/>
          </a:ln>
        </p:spPr>
        <p:style>
          <a:lnRef idx="0"/>
          <a:fillRef idx="0"/>
          <a:effectRef idx="0"/>
          <a:fontRef idx="minor"/>
        </p:style>
        <p:txBody>
          <a:bodyPr anchor="ctr">
            <a:noAutofit/>
          </a:bodyPr>
          <a:p>
            <a:pPr algn="ctr">
              <a:lnSpc>
                <a:spcPct val="120000"/>
              </a:lnSpc>
              <a:tabLst>
                <a:tab algn="l" pos="0"/>
              </a:tabLst>
            </a:pPr>
            <a:r>
              <a:rPr b="1" lang="en-US" sz="1800" strike="noStrike" u="none">
                <a:solidFill>
                  <a:srgbClr val="ffffff"/>
                </a:solidFill>
                <a:effectLst/>
                <a:uFillTx/>
                <a:latin typeface="MiSans"/>
                <a:ea typeface="MiSans"/>
              </a:rPr>
              <a:t>Ministerial Steering Committee</a:t>
            </a:r>
            <a:endParaRPr b="0" lang="bg-BG" sz="1800" strike="noStrike" u="none">
              <a:solidFill>
                <a:srgbClr val="000000"/>
              </a:solidFill>
              <a:effectLst/>
              <a:uFillTx/>
              <a:latin typeface="Arial"/>
            </a:endParaRPr>
          </a:p>
        </p:txBody>
      </p:sp>
      <p:sp>
        <p:nvSpPr>
          <p:cNvPr id="355" name="Text 11"/>
          <p:cNvSpPr/>
          <p:nvPr/>
        </p:nvSpPr>
        <p:spPr>
          <a:xfrm>
            <a:off x="4418280" y="4321080"/>
            <a:ext cx="3579840" cy="188280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ffffff"/>
                </a:solidFill>
                <a:effectLst/>
                <a:uFillTx/>
                <a:latin typeface="MiSans"/>
                <a:ea typeface="MiSans"/>
              </a:rPr>
              <a:t>A quarterly ministerial steering committee will align state incentives, workforce visas, and export controls, supporting the project’s national importance. Contacts with the leading parties are already secured: GERB, BKP and BZNS (constant presence in the parliament).</a:t>
            </a:r>
            <a:endParaRPr b="0" lang="bg-BG" sz="1400" strike="noStrike" u="none">
              <a:solidFill>
                <a:srgbClr val="000000"/>
              </a:solidFill>
              <a:effectLst/>
              <a:uFillTx/>
              <a:latin typeface="Arial"/>
            </a:endParaRPr>
          </a:p>
        </p:txBody>
      </p:sp>
      <p:sp>
        <p:nvSpPr>
          <p:cNvPr id="356" name="Text 12"/>
          <p:cNvSpPr/>
          <p:nvPr/>
        </p:nvSpPr>
        <p:spPr>
          <a:xfrm>
            <a:off x="8239680" y="3401640"/>
            <a:ext cx="3171600" cy="808560"/>
          </a:xfrm>
          <a:prstGeom prst="rect">
            <a:avLst/>
          </a:prstGeom>
          <a:noFill/>
          <a:ln w="0">
            <a:noFill/>
          </a:ln>
        </p:spPr>
        <p:style>
          <a:lnRef idx="0"/>
          <a:fillRef idx="0"/>
          <a:effectRef idx="0"/>
          <a:fontRef idx="minor"/>
        </p:style>
        <p:txBody>
          <a:bodyPr anchor="ctr">
            <a:noAutofit/>
          </a:bodyPr>
          <a:p>
            <a:pPr algn="ctr">
              <a:lnSpc>
                <a:spcPct val="120000"/>
              </a:lnSpc>
              <a:tabLst>
                <a:tab algn="l" pos="0"/>
              </a:tabLst>
            </a:pPr>
            <a:r>
              <a:rPr b="1" lang="en-US" sz="1800" strike="noStrike" u="none">
                <a:solidFill>
                  <a:srgbClr val="ffffff"/>
                </a:solidFill>
                <a:effectLst/>
                <a:uFillTx/>
                <a:latin typeface="MiSans"/>
                <a:ea typeface="MiSans"/>
              </a:rPr>
              <a:t>Strategic Alignment</a:t>
            </a:r>
            <a:endParaRPr b="0" lang="bg-BG" sz="1800" strike="noStrike" u="none">
              <a:solidFill>
                <a:srgbClr val="000000"/>
              </a:solidFill>
              <a:effectLst/>
              <a:uFillTx/>
              <a:latin typeface="Arial"/>
            </a:endParaRPr>
          </a:p>
        </p:txBody>
      </p:sp>
      <p:sp>
        <p:nvSpPr>
          <p:cNvPr id="357" name="Text 13"/>
          <p:cNvSpPr/>
          <p:nvPr/>
        </p:nvSpPr>
        <p:spPr>
          <a:xfrm>
            <a:off x="8056800" y="4321080"/>
            <a:ext cx="3579840" cy="1882800"/>
          </a:xfrm>
          <a:prstGeom prst="rect">
            <a:avLst/>
          </a:prstGeom>
          <a:noFill/>
          <a:ln w="0">
            <a:noFill/>
          </a:ln>
        </p:spPr>
        <p:style>
          <a:lnRef idx="0"/>
          <a:fillRef idx="0"/>
          <a:effectRef idx="0"/>
          <a:fontRef idx="minor"/>
        </p:style>
        <p:txBody>
          <a:bodyPr anchor="t">
            <a:spAutoFit/>
          </a:bodyPr>
          <a:p>
            <a:pPr>
              <a:lnSpc>
                <a:spcPct val="120000"/>
              </a:lnSpc>
              <a:tabLst>
                <a:tab algn="l" pos="0"/>
              </a:tabLst>
            </a:pPr>
            <a:r>
              <a:rPr b="0" lang="en-US" sz="1400" strike="noStrike" u="none">
                <a:solidFill>
                  <a:srgbClr val="ffffff"/>
                </a:solidFill>
                <a:effectLst/>
                <a:uFillTx/>
                <a:latin typeface="MiSans"/>
                <a:ea typeface="MiSans"/>
              </a:rPr>
              <a:t>This governance structure ensures that the project remains strategically aligned with national interests and benefits from high-level support and resources and will result in best benefits for the humanity and the Euro-Atlantic values of our peaceful and democratic community.</a:t>
            </a:r>
            <a:endParaRPr b="0" lang="bg-BG"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58" name="Image 0" descr="https://kimi-img.moonshot.cn/pub/slides/slides_tmpl/image/25-08-27-19:58:00-d2nf5i18bjvh7rlivu80.png"/>
          <p:cNvPicPr/>
          <p:nvPr/>
        </p:nvPicPr>
        <p:blipFill>
          <a:blip r:embed="rId1"/>
          <a:stretch/>
        </p:blipFill>
        <p:spPr>
          <a:xfrm>
            <a:off x="6840" y="0"/>
            <a:ext cx="12192120" cy="6872400"/>
          </a:xfrm>
          <a:prstGeom prst="rect">
            <a:avLst/>
          </a:prstGeom>
          <a:noFill/>
          <a:ln w="0">
            <a:noFill/>
          </a:ln>
        </p:spPr>
      </p:pic>
      <p:pic>
        <p:nvPicPr>
          <p:cNvPr id="359" name="Image 1" descr="https://kimi-img.moonshot.cn/pub/slides/slides_tmpl/image/25-08-27-19:57:59-d2nf5hp8bjvh7rlivu60.png"/>
          <p:cNvPicPr/>
          <p:nvPr/>
        </p:nvPicPr>
        <p:blipFill>
          <a:blip r:embed="rId2"/>
          <a:stretch/>
        </p:blipFill>
        <p:spPr>
          <a:xfrm>
            <a:off x="770400" y="244440"/>
            <a:ext cx="5095800" cy="2687760"/>
          </a:xfrm>
          <a:prstGeom prst="rect">
            <a:avLst/>
          </a:prstGeom>
          <a:noFill/>
          <a:ln w="0">
            <a:noFill/>
          </a:ln>
        </p:spPr>
      </p:pic>
      <p:pic>
        <p:nvPicPr>
          <p:cNvPr id="360" name="Image 2" descr="https://kimi-img.moonshot.cn/pub/slides/25-10-09-07:23:29-d3jf4s93ntns38dqs0fg.png"/>
          <p:cNvPicPr/>
          <p:nvPr/>
        </p:nvPicPr>
        <p:blipFill>
          <a:blip r:embed="rId3"/>
          <a:stretch/>
        </p:blipFill>
        <p:spPr>
          <a:xfrm>
            <a:off x="6303960" y="405360"/>
            <a:ext cx="5218200" cy="2365920"/>
          </a:xfrm>
          <a:prstGeom prst="rect">
            <a:avLst/>
          </a:prstGeom>
          <a:noFill/>
          <a:ln w="0">
            <a:noFill/>
          </a:ln>
        </p:spPr>
      </p:pic>
      <p:pic>
        <p:nvPicPr>
          <p:cNvPr id="361" name="Image 3" descr="https://kimi-img.moonshot.cn/pub/slides/25-10-09-07:24:20-d3jf590h9476j2hucm50.png"/>
          <p:cNvPicPr/>
          <p:nvPr/>
        </p:nvPicPr>
        <p:blipFill>
          <a:blip r:embed="rId4"/>
          <a:stretch/>
        </p:blipFill>
        <p:spPr>
          <a:xfrm>
            <a:off x="8766720" y="2868840"/>
            <a:ext cx="2755440" cy="2718000"/>
          </a:xfrm>
          <a:prstGeom prst="rect">
            <a:avLst/>
          </a:prstGeom>
          <a:noFill/>
          <a:ln w="0">
            <a:noFill/>
          </a:ln>
        </p:spPr>
      </p:pic>
      <p:sp>
        <p:nvSpPr>
          <p:cNvPr id="362" name="Text 0"/>
          <p:cNvSpPr/>
          <p:nvPr/>
        </p:nvSpPr>
        <p:spPr>
          <a:xfrm>
            <a:off x="0" y="0"/>
            <a:ext cx="7619760" cy="53316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600" strike="noStrike" u="none">
                <a:solidFill>
                  <a:srgbClr val="000000"/>
                </a:solidFill>
                <a:effectLst/>
                <a:uFillTx/>
                <a:latin typeface="微软雅黑"/>
                <a:ea typeface="微软雅黑"/>
              </a:rPr>
              <a:t>https://github.com/Twenkid/SIGI-2025/</a:t>
            </a:r>
            <a:endParaRPr b="0" lang="bg-BG" sz="1600" strike="noStrike" u="none">
              <a:solidFill>
                <a:srgbClr val="000000"/>
              </a:solidFill>
              <a:effectLst/>
              <a:uFillTx/>
              <a:latin typeface="Arial"/>
            </a:endParaRPr>
          </a:p>
        </p:txBody>
      </p:sp>
      <p:sp>
        <p:nvSpPr>
          <p:cNvPr id="363" name="Text 1"/>
          <p:cNvSpPr/>
          <p:nvPr/>
        </p:nvSpPr>
        <p:spPr>
          <a:xfrm>
            <a:off x="0" y="0"/>
            <a:ext cx="7619760" cy="266400"/>
          </a:xfrm>
          <a:prstGeom prst="rect">
            <a:avLst/>
          </a:prstGeom>
          <a:noFill/>
          <a:ln w="0">
            <a:noFill/>
          </a:ln>
        </p:spPr>
        <p:style>
          <a:lnRef idx="0"/>
          <a:fillRef idx="0"/>
          <a:effectRef idx="0"/>
          <a:fontRef idx="minor"/>
        </p:style>
        <p:txBody>
          <a:bodyPr anchor="t">
            <a:spAutoFit/>
          </a:bodyPr>
          <a:p>
            <a:pPr>
              <a:lnSpc>
                <a:spcPct val="100000"/>
              </a:lnSpc>
              <a:tabLst>
                <a:tab algn="l" pos="0"/>
              </a:tabLst>
            </a:pPr>
            <a:r>
              <a:rPr b="0" lang="en-US" sz="1600" strike="noStrike" u="none">
                <a:solidFill>
                  <a:srgbClr val="000000"/>
                </a:solidFill>
                <a:effectLst/>
                <a:uFillTx/>
                <a:latin typeface="微软雅黑"/>
                <a:ea typeface="微软雅黑"/>
              </a:rPr>
              <a:t>https://github.com/Twenkid/SIGI-2025/</a:t>
            </a:r>
            <a:endParaRPr b="0" lang="bg-BG" sz="1600" strike="noStrike" u="none">
              <a:solidFill>
                <a:srgbClr val="000000"/>
              </a:solidFill>
              <a:effectLst/>
              <a:uFillTx/>
              <a:latin typeface="Arial"/>
            </a:endParaRPr>
          </a:p>
        </p:txBody>
      </p:sp>
      <p:sp>
        <p:nvSpPr>
          <p:cNvPr id="364" name="Text 2"/>
          <p:cNvSpPr/>
          <p:nvPr/>
        </p:nvSpPr>
        <p:spPr>
          <a:xfrm>
            <a:off x="465840" y="5806440"/>
            <a:ext cx="7454160" cy="533160"/>
          </a:xfrm>
          <a:prstGeom prst="rect">
            <a:avLst/>
          </a:prstGeom>
          <a:noFill/>
          <a:ln w="0">
            <a:noFill/>
          </a:ln>
        </p:spPr>
        <p:style>
          <a:lnRef idx="0"/>
          <a:fillRef idx="0"/>
          <a:effectRef idx="0"/>
          <a:fontRef idx="minor"/>
        </p:style>
        <p:txBody>
          <a:bodyPr anchor="t">
            <a:noAutofit/>
          </a:bodyPr>
          <a:p>
            <a:pPr>
              <a:lnSpc>
                <a:spcPct val="100000"/>
              </a:lnSpc>
              <a:tabLst>
                <a:tab algn="l" pos="0"/>
              </a:tabLst>
            </a:pPr>
            <a:r>
              <a:rPr b="1" lang="en-US" sz="1600" strike="noStrike" u="none">
                <a:solidFill>
                  <a:srgbClr val="e7e6e6"/>
                </a:solidFill>
                <a:effectLst/>
                <a:uFillTx/>
                <a:latin typeface="微软雅黑"/>
                <a:ea typeface="微软雅黑"/>
              </a:rPr>
              <a:t>Visit the yearlong conference: </a:t>
            </a:r>
            <a:r>
              <a:rPr b="1" lang="en-US" sz="1600" strike="noStrike" u="none">
                <a:solidFill>
                  <a:srgbClr val="e7e6e6"/>
                </a:solidFill>
                <a:effectLst/>
                <a:uFillTx/>
                <a:latin typeface="微软雅黑"/>
                <a:ea typeface="微软雅黑"/>
                <a:hlinkClick r:id="rId5"/>
              </a:rPr>
              <a:t>https://github.com/Twenkid/SIGI-2025/</a:t>
            </a:r>
            <a:br>
              <a:rPr sz="1600"/>
            </a:br>
            <a:r>
              <a:rPr b="0" lang="en-US" sz="1600" strike="noStrike" u="none">
                <a:solidFill>
                  <a:srgbClr val="e7e6e6"/>
                </a:solidFill>
                <a:effectLst/>
                <a:uFillTx/>
                <a:latin typeface="微软雅黑"/>
                <a:ea typeface="微软雅黑"/>
              </a:rPr>
              <a:t>Thinking Machines, Creativity and Human Development</a:t>
            </a:r>
            <a:endParaRPr b="0" lang="bg-BG" sz="1600" strike="noStrike" u="none">
              <a:solidFill>
                <a:srgbClr val="000000"/>
              </a:solidFill>
              <a:effectLst/>
              <a:uFillTx/>
              <a:latin typeface="Arial"/>
            </a:endParaRPr>
          </a:p>
        </p:txBody>
      </p:sp>
      <p:pic>
        <p:nvPicPr>
          <p:cNvPr id="365" name="" descr=""/>
          <p:cNvPicPr/>
          <p:nvPr/>
        </p:nvPicPr>
        <p:blipFill>
          <a:blip r:embed="rId6"/>
          <a:stretch/>
        </p:blipFill>
        <p:spPr>
          <a:xfrm>
            <a:off x="9180000" y="5756400"/>
            <a:ext cx="2018520" cy="7236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702</TotalTime>
  <Application>LibreOffice/25.2.5.2$Windows_X86_64 LibreOffice_project/03d19516eb2e1dd5d4ccd751a0d6f35f35e08022</Application>
  <AppVersion>15.0000</AppVersion>
  <Words>0</Words>
  <Paragraphs>0</Paragraphs>
  <Company>Moonshot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2025-10-08T23:55:36Z</dcterms:created>
  <dc:creator>Kimi</dc:creator>
  <dc:description/>
  <dc:language>bg-BG</dc:language>
  <cp:lastModifiedBy/>
  <dcterms:modified xsi:type="dcterms:W3CDTF">2025-10-09T19:22:42Z</dcterms:modified>
  <cp:revision>3</cp:revision>
  <dc:subject>3nm Fab: Bulgaria’s Quantum Leap</dc:subject>
  <dc:title>3nm Fab: Bulgaria’s Quantum Leap</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{"Label":"3nm Fab: Bulgaria’s Quantum Leap","ContentProducer":"001191110108MACG2KBH8F10000","ProduceID":"d3jf303of8jkodqb1meg","ReservedCode1":"","ContentPropagator":"001191110108MACG2KBH8F20000","PropagateID":"d3jf303of8jkodqb1meg","ReservedCode2":""}</vt:lpwstr>
  </property>
  <property fmtid="{D5CDD505-2E9C-101B-9397-08002B2CF9AE}" pid="3" name="Notes">
    <vt:i4>21</vt:i4>
  </property>
  <property fmtid="{D5CDD505-2E9C-101B-9397-08002B2CF9AE}" pid="4" name="PresentationFormat">
    <vt:lpwstr>On-screen Show (16:9)</vt:lpwstr>
  </property>
  <property fmtid="{D5CDD505-2E9C-101B-9397-08002B2CF9AE}" pid="5" name="Slides">
    <vt:i4>21</vt:i4>
  </property>
</Properties>
</file>